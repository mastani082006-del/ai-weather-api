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1695" cy="6858000"/>
  <p:notesSz cx="6858000" cy="12191695"/>
  <p:embeddedFontLst>
    <p:embeddedFont>
      <p:font typeface="Fragment Mono"/>
      <p:regular r:id="rId201314"/>
    </p:embeddedFont>
    <p:embeddedFont>
      <p:font typeface="Geist Light"/>
      <p:regular r:id="rId201315"/>
    </p:embeddedFont>
    <p:embeddedFont>
      <p:font typeface="Geist SemiBold"/>
      <p:regular r:id="rId201316"/>
    </p:embeddedFont>
    <p:embeddedFont>
      <p:font typeface="Geist Bold"/>
      <p:regular r:id="rId201317"/>
    </p:embeddedFont>
    <p:embeddedFont>
      <p:font typeface="Geist"/>
      <p:regular r:id="rId201318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201314" Type="http://schemas.openxmlformats.org/officeDocument/2006/relationships/font" Target="fonts/201314.fntdata"/><Relationship Id="rId201315" Type="http://schemas.openxmlformats.org/officeDocument/2006/relationships/font" Target="fonts/201315.fntdata"/><Relationship Id="rId201316" Type="http://schemas.openxmlformats.org/officeDocument/2006/relationships/font" Target="fonts/201316.fntdata"/><Relationship Id="rId201317" Type="http://schemas.openxmlformats.org/officeDocument/2006/relationships/font" Target="fonts/201317.fntdata"/><Relationship Id="rId201318" Type="http://schemas.openxmlformats.org/officeDocument/2006/relationships/font" Target="fonts/201318.fntdata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AI Weatherwise as an automated backend service. It bridges raw atmospheric data points with natural-language generative advice, delivering structured, context-rich recommendations for end users.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Acknowledge each team member's domain: Mastani directed integration, Priya implemented core server architecture, Sharmila constructed error flows, Uzma managed documentation and testing, and Vishali structured communications.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the core responsibility: transforming raw measurements into daily human decisions. The pipeline enforces clean ingestion and strict input hygiene before any LLM invocation occurs.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Trace the five-stage flow: send the HTTP POST request, check the data in Node.js, ask Google Gemini for suggestions, save the request and advice in MongoDB, and return JSON with a status code.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Emphasize subsystem separation: Node.js guards network routing, Gemini contributes domain intelligence, MongoDB provides non-volatile audit records, and Postman verifies contract adherence.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Describe development phases: initial dependency integration, separation of concerns into dedicated modules, securing credentials with dotenv, rigorous Postman verification, and hardening error boundaries.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the failure matrix: 400 Bad Request handles bad client input, 500 covers runtime exceptions without exposing stack traces, and 503 protects upstream AI timeouts with graceful degradation.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Highlight privacy guarantees: .env isolation prevents API token theft, internal prompt structuring hides LLM parameters, and audit logging preserves observability without exposing user footprints.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Conclude with an honest academic evaluation: the core loop is proven and operating cleanly, but broad field reliability requires extended test coverage across erratic conditions and resilient fallback caching.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3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62B4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D1A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>
              <a:alpha val="25000"/>
            </a:srgbClr>
          </a:solidFill>
          <a:ln/>
        </p:spPr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62B4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D1A"/>
          </a:solidFill>
          <a:ln/>
        </p:spPr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jpe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jpe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956270"/>
            <a:ext cx="6299042" cy="1885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00" spc="66" kern="0" dirty="0">
                <a:solidFill>
                  <a:srgbClr val="FFFFFF"/>
                </a:solidFill>
                <a:latin typeface="Fragment Mono" pitchFamily="34" charset="0"/>
                <a:ea typeface="Fragment Mono" pitchFamily="34" charset="-122"/>
                <a:cs typeface="Fragment Mono" pitchFamily="34" charset="-120"/>
              </a:rPr>
              <a:t>API ARCHITECTURE &amp; SERVICE DESIGN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09585" y="1224161"/>
            <a:ext cx="5308467" cy="5308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3800" spc="-57" kern="0" dirty="0">
                <a:solidFill>
                  <a:srgbClr val="FFFFFF"/>
                </a:solidFill>
                <a:latin typeface="Geist Light" pitchFamily="34" charset="0"/>
                <a:ea typeface="Geist Light" pitchFamily="34" charset="-122"/>
                <a:cs typeface="Geist Light" pitchFamily="34" charset="-120"/>
              </a:rPr>
              <a:t>AI Weatherwise API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609585" y="1932781"/>
            <a:ext cx="5689458" cy="5699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Turning raw weather conditions into clear summaries and practical outdoor advice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609585" y="2691606"/>
            <a:ext cx="1877469" cy="31651"/>
          </a:xfrm>
          <a:prstGeom prst="roundRect">
            <a:avLst>
              <a:gd name="adj" fmla="val 49998"/>
            </a:avLst>
          </a:prstGeom>
          <a:solidFill>
            <a:srgbClr val="454B68"/>
          </a:solidFill>
          <a:ln/>
        </p:spPr>
      </p:sp>
      <p:sp>
        <p:nvSpPr>
          <p:cNvPr id="6" name="Text 4"/>
          <p:cNvSpPr/>
          <p:nvPr/>
        </p:nvSpPr>
        <p:spPr>
          <a:xfrm>
            <a:off x="609585" y="2947194"/>
            <a:ext cx="5689458" cy="3942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150" spc="23" kern="0" dirty="0">
                <a:solidFill>
                  <a:srgbClr val="FFFFFF"/>
                </a:solidFill>
                <a:latin typeface="Fragment Mono" pitchFamily="34" charset="0"/>
                <a:ea typeface="Fragment Mono" pitchFamily="34" charset="-122"/>
                <a:cs typeface="Fragment Mono" pitchFamily="34" charset="-120"/>
              </a:rPr>
              <a:t>Student Engineering Project · Node.js · Google Gemini · MongoDB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7365816" y="355600"/>
            <a:ext cx="4368691" cy="1018381"/>
          </a:xfrm>
          <a:prstGeom prst="rect">
            <a:avLst/>
          </a:prstGeom>
          <a:solidFill>
            <a:srgbClr val="1B1D2A"/>
          </a:solidFill>
          <a:ln/>
        </p:spPr>
      </p:sp>
      <p:sp>
        <p:nvSpPr>
          <p:cNvPr id="8" name="Text 6"/>
          <p:cNvSpPr/>
          <p:nvPr/>
        </p:nvSpPr>
        <p:spPr>
          <a:xfrm>
            <a:off x="7569011" y="558800"/>
            <a:ext cx="4165496" cy="1885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00" spc="66" kern="0" dirty="0">
                <a:solidFill>
                  <a:srgbClr val="FFFFFF"/>
                </a:solidFill>
                <a:latin typeface="Fragment Mono" pitchFamily="34" charset="0"/>
                <a:ea typeface="Fragment Mono" pitchFamily="34" charset="-122"/>
                <a:cs typeface="Fragment Mono" pitchFamily="34" charset="-120"/>
              </a:rPr>
              <a:t>ENDPOINT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569011" y="925116"/>
            <a:ext cx="4165496" cy="2456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300" dirty="0">
                <a:solidFill>
                  <a:srgbClr val="FFFFFF"/>
                </a:solidFill>
                <a:highlight>
                  <a:srgbClr val="151829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POST /weather-recommendation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365816" y="1526381"/>
            <a:ext cx="4368691" cy="1251347"/>
          </a:xfrm>
          <a:prstGeom prst="rect">
            <a:avLst/>
          </a:prstGeom>
          <a:solidFill>
            <a:srgbClr val="1B1D2A"/>
          </a:solidFill>
          <a:ln/>
        </p:spPr>
      </p:sp>
      <p:sp>
        <p:nvSpPr>
          <p:cNvPr id="11" name="Text 9"/>
          <p:cNvSpPr/>
          <p:nvPr/>
        </p:nvSpPr>
        <p:spPr>
          <a:xfrm>
            <a:off x="7569011" y="1729581"/>
            <a:ext cx="4165496" cy="1885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00" spc="66" kern="0" dirty="0">
                <a:solidFill>
                  <a:srgbClr val="FFFFFF"/>
                </a:solidFill>
                <a:latin typeface="Fragment Mono" pitchFamily="34" charset="0"/>
                <a:ea typeface="Fragment Mono" pitchFamily="34" charset="-122"/>
                <a:cs typeface="Fragment Mono" pitchFamily="34" charset="-120"/>
              </a:rPr>
              <a:t>PIPELINE CORE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569011" y="2095897"/>
            <a:ext cx="3962301" cy="4786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Validation → Gemini Reasoning → Mongo Persistence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365816" y="2930128"/>
            <a:ext cx="4368691" cy="1012031"/>
          </a:xfrm>
          <a:prstGeom prst="rect">
            <a:avLst/>
          </a:prstGeom>
          <a:solidFill>
            <a:srgbClr val="1B1D2A"/>
          </a:solidFill>
          <a:ln/>
        </p:spPr>
      </p:sp>
      <p:sp>
        <p:nvSpPr>
          <p:cNvPr id="14" name="Text 12"/>
          <p:cNvSpPr/>
          <p:nvPr/>
        </p:nvSpPr>
        <p:spPr>
          <a:xfrm>
            <a:off x="7569011" y="3133328"/>
            <a:ext cx="4165496" cy="1885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00" spc="66" kern="0" dirty="0">
                <a:solidFill>
                  <a:srgbClr val="FFFFFF"/>
                </a:solidFill>
                <a:latin typeface="Fragment Mono" pitchFamily="34" charset="0"/>
                <a:ea typeface="Fragment Mono" pitchFamily="34" charset="-122"/>
                <a:cs typeface="Fragment Mono" pitchFamily="34" charset="-120"/>
              </a:rPr>
              <a:t>EXECUTION VERDICT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569011" y="3499644"/>
            <a:ext cx="4165496" cy="2393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300" dirty="0">
                <a:solidFill>
                  <a:srgbClr val="00E5FF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HTTP 200 OK</a:t>
            </a:r>
            <a:pPr algn="l" indent="0" marL="0">
              <a:lnSpc>
                <a:spcPct val="121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· JSON Payload Verified</a:t>
            </a:r>
            <a:endParaRPr lang="en-US" sz="1300" dirty="0"/>
          </a:p>
        </p:txBody>
      </p:sp>
      <p:pic>
        <p:nvPicPr>
          <p:cNvPr id="1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4297759"/>
            <a:ext cx="12191695" cy="2560241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09600"/>
            <a:ext cx="11582110" cy="1885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00" spc="66" kern="0" dirty="0">
                <a:solidFill>
                  <a:srgbClr val="A9AEC4"/>
                </a:solidFill>
                <a:latin typeface="Fragment Mono" pitchFamily="34" charset="0"/>
                <a:ea typeface="Fragment Mono" pitchFamily="34" charset="-122"/>
                <a:cs typeface="Fragment Mono" pitchFamily="34" charset="-120"/>
              </a:rPr>
              <a:t>PROJECT CONTRIBUTORS &amp; OWNERSHIP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09585" y="877491"/>
            <a:ext cx="10972526" cy="419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3000" spc="-45" kern="0" dirty="0">
                <a:solidFill>
                  <a:srgbClr val="E8EAF2"/>
                </a:solidFill>
                <a:latin typeface="Geist Light" pitchFamily="34" charset="0"/>
                <a:ea typeface="Geist Light" pitchFamily="34" charset="-122"/>
                <a:cs typeface="Geist Light" pitchFamily="34" charset="-120"/>
              </a:rPr>
              <a:t>The team behind AI Weatherwise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09585" y="1493441"/>
            <a:ext cx="11582110" cy="1971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150" spc="11" kern="0" dirty="0">
                <a:solidFill>
                  <a:srgbClr val="8A90A8"/>
                </a:solidFill>
                <a:latin typeface="Fragment Mono" pitchFamily="34" charset="0"/>
                <a:ea typeface="Fragment Mono" pitchFamily="34" charset="-122"/>
                <a:cs typeface="Fragment Mono" pitchFamily="34" charset="-120"/>
              </a:rPr>
              <a:t>Five core domains structured across backend engineering, integration, and quality assurance.</a:t>
            </a:r>
            <a:endParaRPr lang="en-US" sz="115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585" y="1868388"/>
            <a:ext cx="2031949" cy="11430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09585" y="3189188"/>
            <a:ext cx="2072628" cy="2105422"/>
          </a:xfrm>
          <a:prstGeom prst="roundRect">
            <a:avLst>
              <a:gd name="adj" fmla="val 551"/>
            </a:avLst>
          </a:prstGeom>
          <a:noFill/>
          <a:ln w="25399">
            <a:solidFill>
              <a:srgbClr val="434552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634984" y="3214588"/>
            <a:ext cx="2021829" cy="568325"/>
          </a:xfrm>
          <a:prstGeom prst="rect">
            <a:avLst/>
          </a:prstGeom>
          <a:solidFill>
            <a:srgbClr val="1B1D2A"/>
          </a:solidFill>
          <a:ln/>
        </p:spPr>
      </p:sp>
      <p:sp>
        <p:nvSpPr>
          <p:cNvPr id="8" name="Shape 5"/>
          <p:cNvSpPr/>
          <p:nvPr/>
        </p:nvSpPr>
        <p:spPr>
          <a:xfrm>
            <a:off x="634984" y="3776563"/>
            <a:ext cx="2021829" cy="6350"/>
          </a:xfrm>
          <a:prstGeom prst="rect">
            <a:avLst/>
          </a:prstGeom>
          <a:solidFill>
            <a:srgbClr val="434552"/>
          </a:solidFill>
          <a:ln/>
        </p:spPr>
      </p:sp>
      <p:sp>
        <p:nvSpPr>
          <p:cNvPr id="9" name="Text 6"/>
          <p:cNvSpPr/>
          <p:nvPr/>
        </p:nvSpPr>
        <p:spPr>
          <a:xfrm>
            <a:off x="1410161" y="3357463"/>
            <a:ext cx="1081060" cy="2762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500" dirty="0">
                <a:solidFill>
                  <a:srgbClr val="8A90A8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LEAD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825479" y="3862288"/>
            <a:ext cx="1640839" cy="2849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700" dirty="0">
                <a:solidFill>
                  <a:srgbClr val="E8EAF2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Mastani I</a:t>
            </a:r>
            <a:endParaRPr lang="en-US" sz="1700" dirty="0"/>
          </a:p>
        </p:txBody>
      </p:sp>
      <p:sp>
        <p:nvSpPr>
          <p:cNvPr id="11" name="Text 8"/>
          <p:cNvSpPr/>
          <p:nvPr/>
        </p:nvSpPr>
        <p:spPr>
          <a:xfrm>
            <a:off x="825479" y="4290120"/>
            <a:ext cx="1640839" cy="5914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150" spc="11" kern="0" dirty="0">
                <a:solidFill>
                  <a:srgbClr val="8A90A8"/>
                </a:solidFill>
                <a:latin typeface="Fragment Mono" pitchFamily="34" charset="0"/>
                <a:ea typeface="Fragment Mono" pitchFamily="34" charset="-122"/>
                <a:cs typeface="Fragment Mono" pitchFamily="34" charset="-120"/>
              </a:rPr>
              <a:t>Team leader and API integration oversight.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2834510" y="3189188"/>
            <a:ext cx="2072628" cy="2105422"/>
          </a:xfrm>
          <a:prstGeom prst="roundRect">
            <a:avLst>
              <a:gd name="adj" fmla="val 551"/>
            </a:avLst>
          </a:prstGeom>
          <a:noFill/>
          <a:ln w="25399">
            <a:solidFill>
              <a:srgbClr val="434552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2859909" y="3214588"/>
            <a:ext cx="2021829" cy="568325"/>
          </a:xfrm>
          <a:prstGeom prst="rect">
            <a:avLst/>
          </a:prstGeom>
          <a:solidFill>
            <a:srgbClr val="1B1D2A"/>
          </a:solidFill>
          <a:ln/>
        </p:spPr>
      </p:sp>
      <p:sp>
        <p:nvSpPr>
          <p:cNvPr id="14" name="Shape 11"/>
          <p:cNvSpPr/>
          <p:nvPr/>
        </p:nvSpPr>
        <p:spPr>
          <a:xfrm>
            <a:off x="2859909" y="3776563"/>
            <a:ext cx="2021829" cy="6350"/>
          </a:xfrm>
          <a:prstGeom prst="rect">
            <a:avLst/>
          </a:prstGeom>
          <a:solidFill>
            <a:srgbClr val="434552"/>
          </a:solidFill>
          <a:ln/>
        </p:spPr>
      </p:sp>
      <p:sp>
        <p:nvSpPr>
          <p:cNvPr id="15" name="Text 12"/>
          <p:cNvSpPr/>
          <p:nvPr/>
        </p:nvSpPr>
        <p:spPr>
          <a:xfrm>
            <a:off x="3429510" y="3357463"/>
            <a:ext cx="1477628" cy="2762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500" dirty="0">
                <a:solidFill>
                  <a:srgbClr val="8A90A8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BACKEND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3050404" y="3862288"/>
            <a:ext cx="1640839" cy="2849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700" dirty="0">
                <a:solidFill>
                  <a:srgbClr val="E8EAF2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Priya Bharathi T</a:t>
            </a:r>
            <a:endParaRPr lang="en-US" sz="1700" dirty="0"/>
          </a:p>
        </p:txBody>
      </p:sp>
      <p:sp>
        <p:nvSpPr>
          <p:cNvPr id="17" name="Text 14"/>
          <p:cNvSpPr/>
          <p:nvPr/>
        </p:nvSpPr>
        <p:spPr>
          <a:xfrm>
            <a:off x="3050404" y="4290120"/>
            <a:ext cx="1640839" cy="5914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150" spc="11" kern="0" dirty="0">
                <a:solidFill>
                  <a:srgbClr val="8A90A8"/>
                </a:solidFill>
                <a:latin typeface="Fragment Mono" pitchFamily="34" charset="0"/>
                <a:ea typeface="Fragment Mono" pitchFamily="34" charset="-122"/>
                <a:cs typeface="Fragment Mono" pitchFamily="34" charset="-120"/>
              </a:rPr>
              <a:t>Node.js service logic and server pipeline.</a:t>
            </a:r>
            <a:endParaRPr lang="en-US" sz="1150" dirty="0"/>
          </a:p>
        </p:txBody>
      </p:sp>
      <p:sp>
        <p:nvSpPr>
          <p:cNvPr id="18" name="Shape 15"/>
          <p:cNvSpPr/>
          <p:nvPr/>
        </p:nvSpPr>
        <p:spPr>
          <a:xfrm>
            <a:off x="5059434" y="3189188"/>
            <a:ext cx="2072727" cy="2105422"/>
          </a:xfrm>
          <a:prstGeom prst="roundRect">
            <a:avLst>
              <a:gd name="adj" fmla="val 551"/>
            </a:avLst>
          </a:prstGeom>
          <a:noFill/>
          <a:ln w="25399">
            <a:solidFill>
              <a:srgbClr val="434552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5084834" y="3214588"/>
            <a:ext cx="2021928" cy="568325"/>
          </a:xfrm>
          <a:prstGeom prst="rect">
            <a:avLst/>
          </a:prstGeom>
          <a:solidFill>
            <a:srgbClr val="1B1D2A"/>
          </a:solidFill>
          <a:ln/>
        </p:spPr>
      </p:sp>
      <p:sp>
        <p:nvSpPr>
          <p:cNvPr id="20" name="Shape 17"/>
          <p:cNvSpPr/>
          <p:nvPr/>
        </p:nvSpPr>
        <p:spPr>
          <a:xfrm>
            <a:off x="5084834" y="3776563"/>
            <a:ext cx="2021928" cy="6350"/>
          </a:xfrm>
          <a:prstGeom prst="rect">
            <a:avLst/>
          </a:prstGeom>
          <a:solidFill>
            <a:srgbClr val="434552"/>
          </a:solidFill>
          <a:ln/>
        </p:spPr>
      </p:sp>
      <p:sp>
        <p:nvSpPr>
          <p:cNvPr id="21" name="Text 18"/>
          <p:cNvSpPr/>
          <p:nvPr/>
        </p:nvSpPr>
        <p:spPr>
          <a:xfrm>
            <a:off x="5567025" y="3357463"/>
            <a:ext cx="1565137" cy="2762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500" dirty="0">
                <a:solidFill>
                  <a:srgbClr val="8A90A8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RELIABILITY</a:t>
            </a:r>
            <a:endParaRPr lang="en-US" sz="1500" dirty="0"/>
          </a:p>
        </p:txBody>
      </p:sp>
      <p:sp>
        <p:nvSpPr>
          <p:cNvPr id="22" name="Text 19"/>
          <p:cNvSpPr/>
          <p:nvPr/>
        </p:nvSpPr>
        <p:spPr>
          <a:xfrm>
            <a:off x="5275329" y="3862288"/>
            <a:ext cx="1640938" cy="2849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700" dirty="0">
                <a:solidFill>
                  <a:srgbClr val="E8EAF2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Sharmila V</a:t>
            </a:r>
            <a:endParaRPr lang="en-US" sz="1700" dirty="0"/>
          </a:p>
        </p:txBody>
      </p:sp>
      <p:sp>
        <p:nvSpPr>
          <p:cNvPr id="23" name="Text 20"/>
          <p:cNvSpPr/>
          <p:nvPr/>
        </p:nvSpPr>
        <p:spPr>
          <a:xfrm>
            <a:off x="5275329" y="4290120"/>
            <a:ext cx="1640938" cy="5914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150" spc="11" kern="0" dirty="0">
                <a:solidFill>
                  <a:srgbClr val="8A90A8"/>
                </a:solidFill>
                <a:latin typeface="Fragment Mono" pitchFamily="34" charset="0"/>
                <a:ea typeface="Fragment Mono" pitchFamily="34" charset="-122"/>
                <a:cs typeface="Fragment Mono" pitchFamily="34" charset="-120"/>
              </a:rPr>
              <a:t>Error handling routines and resilience paths.</a:t>
            </a:r>
            <a:endParaRPr lang="en-US" sz="1150" dirty="0"/>
          </a:p>
        </p:txBody>
      </p:sp>
      <p:sp>
        <p:nvSpPr>
          <p:cNvPr id="24" name="Shape 21"/>
          <p:cNvSpPr/>
          <p:nvPr/>
        </p:nvSpPr>
        <p:spPr>
          <a:xfrm>
            <a:off x="7284458" y="3189188"/>
            <a:ext cx="2072628" cy="2105422"/>
          </a:xfrm>
          <a:prstGeom prst="roundRect">
            <a:avLst>
              <a:gd name="adj" fmla="val 551"/>
            </a:avLst>
          </a:prstGeom>
          <a:noFill/>
          <a:ln w="25399">
            <a:solidFill>
              <a:srgbClr val="434552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7309858" y="3214588"/>
            <a:ext cx="2021829" cy="568325"/>
          </a:xfrm>
          <a:prstGeom prst="rect">
            <a:avLst/>
          </a:prstGeom>
          <a:solidFill>
            <a:srgbClr val="1B1D2A"/>
          </a:solidFill>
          <a:ln/>
        </p:spPr>
      </p:sp>
      <p:sp>
        <p:nvSpPr>
          <p:cNvPr id="26" name="Shape 23"/>
          <p:cNvSpPr/>
          <p:nvPr/>
        </p:nvSpPr>
        <p:spPr>
          <a:xfrm>
            <a:off x="7309858" y="3776563"/>
            <a:ext cx="2021829" cy="6350"/>
          </a:xfrm>
          <a:prstGeom prst="rect">
            <a:avLst/>
          </a:prstGeom>
          <a:solidFill>
            <a:srgbClr val="434552"/>
          </a:solidFill>
          <a:ln/>
        </p:spPr>
      </p:sp>
      <p:sp>
        <p:nvSpPr>
          <p:cNvPr id="27" name="Text 24"/>
          <p:cNvSpPr/>
          <p:nvPr/>
        </p:nvSpPr>
        <p:spPr>
          <a:xfrm>
            <a:off x="7946826" y="3357463"/>
            <a:ext cx="1357477" cy="2762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500" dirty="0">
                <a:solidFill>
                  <a:srgbClr val="8A90A8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TESTING</a:t>
            </a:r>
            <a:endParaRPr lang="en-US" sz="1500" dirty="0"/>
          </a:p>
        </p:txBody>
      </p:sp>
      <p:sp>
        <p:nvSpPr>
          <p:cNvPr id="28" name="Text 25"/>
          <p:cNvSpPr/>
          <p:nvPr/>
        </p:nvSpPr>
        <p:spPr>
          <a:xfrm>
            <a:off x="7500353" y="3862288"/>
            <a:ext cx="1640839" cy="2849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700" dirty="0">
                <a:solidFill>
                  <a:srgbClr val="E8EAF2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Uzma Farheen J</a:t>
            </a:r>
            <a:endParaRPr lang="en-US" sz="1700" dirty="0"/>
          </a:p>
        </p:txBody>
      </p:sp>
      <p:sp>
        <p:nvSpPr>
          <p:cNvPr id="29" name="Text 26"/>
          <p:cNvSpPr/>
          <p:nvPr/>
        </p:nvSpPr>
        <p:spPr>
          <a:xfrm>
            <a:off x="7500353" y="4290120"/>
            <a:ext cx="1640839" cy="5914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150" spc="11" kern="0" dirty="0">
                <a:solidFill>
                  <a:srgbClr val="8A90A8"/>
                </a:solidFill>
                <a:latin typeface="Fragment Mono" pitchFamily="34" charset="0"/>
                <a:ea typeface="Fragment Mono" pitchFamily="34" charset="-122"/>
                <a:cs typeface="Fragment Mono" pitchFamily="34" charset="-120"/>
              </a:rPr>
              <a:t>Documentation, testing suites, and validation.</a:t>
            </a:r>
            <a:endParaRPr lang="en-US" sz="1150" dirty="0"/>
          </a:p>
        </p:txBody>
      </p:sp>
      <p:sp>
        <p:nvSpPr>
          <p:cNvPr id="30" name="Shape 27"/>
          <p:cNvSpPr/>
          <p:nvPr/>
        </p:nvSpPr>
        <p:spPr>
          <a:xfrm>
            <a:off x="9509383" y="3189188"/>
            <a:ext cx="2072727" cy="2105422"/>
          </a:xfrm>
          <a:prstGeom prst="roundRect">
            <a:avLst>
              <a:gd name="adj" fmla="val 551"/>
            </a:avLst>
          </a:prstGeom>
          <a:noFill/>
          <a:ln w="25399">
            <a:solidFill>
              <a:srgbClr val="434552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9534783" y="3214588"/>
            <a:ext cx="2021928" cy="568325"/>
          </a:xfrm>
          <a:prstGeom prst="rect">
            <a:avLst/>
          </a:prstGeom>
          <a:solidFill>
            <a:srgbClr val="1B1D2A"/>
          </a:solidFill>
          <a:ln/>
        </p:spPr>
      </p:sp>
      <p:sp>
        <p:nvSpPr>
          <p:cNvPr id="32" name="Shape 29"/>
          <p:cNvSpPr/>
          <p:nvPr/>
        </p:nvSpPr>
        <p:spPr>
          <a:xfrm>
            <a:off x="9534783" y="3776563"/>
            <a:ext cx="2021928" cy="6350"/>
          </a:xfrm>
          <a:prstGeom prst="rect">
            <a:avLst/>
          </a:prstGeom>
          <a:solidFill>
            <a:srgbClr val="434552"/>
          </a:solidFill>
          <a:ln/>
        </p:spPr>
      </p:sp>
      <p:sp>
        <p:nvSpPr>
          <p:cNvPr id="33" name="Text 30"/>
          <p:cNvSpPr/>
          <p:nvPr/>
        </p:nvSpPr>
        <p:spPr>
          <a:xfrm>
            <a:off x="9863288" y="3357463"/>
            <a:ext cx="1718823" cy="2762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500" dirty="0">
                <a:solidFill>
                  <a:srgbClr val="8A90A8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PRESENTATION</a:t>
            </a:r>
            <a:endParaRPr lang="en-US" sz="1500" dirty="0"/>
          </a:p>
        </p:txBody>
      </p:sp>
      <p:sp>
        <p:nvSpPr>
          <p:cNvPr id="34" name="Text 31"/>
          <p:cNvSpPr/>
          <p:nvPr/>
        </p:nvSpPr>
        <p:spPr>
          <a:xfrm>
            <a:off x="9725278" y="3862288"/>
            <a:ext cx="1640938" cy="2849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700" dirty="0">
                <a:solidFill>
                  <a:srgbClr val="E8EAF2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Vishali M</a:t>
            </a:r>
            <a:endParaRPr lang="en-US" sz="1700" dirty="0"/>
          </a:p>
        </p:txBody>
      </p:sp>
      <p:sp>
        <p:nvSpPr>
          <p:cNvPr id="35" name="Text 32"/>
          <p:cNvSpPr/>
          <p:nvPr/>
        </p:nvSpPr>
        <p:spPr>
          <a:xfrm>
            <a:off x="9725278" y="4290120"/>
            <a:ext cx="1640938" cy="7885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150" spc="11" kern="0" dirty="0">
                <a:solidFill>
                  <a:srgbClr val="8A90A8"/>
                </a:solidFill>
                <a:latin typeface="Fragment Mono" pitchFamily="34" charset="0"/>
                <a:ea typeface="Fragment Mono" pitchFamily="34" charset="-122"/>
                <a:cs typeface="Fragment Mono" pitchFamily="34" charset="-120"/>
              </a:rPr>
              <a:t>Architecture review and presentation design.</a:t>
            </a:r>
            <a:endParaRPr lang="en-US" sz="1150" dirty="0"/>
          </a:p>
        </p:txBody>
      </p:sp>
      <p:sp>
        <p:nvSpPr>
          <p:cNvPr id="36" name="Shape 33"/>
          <p:cNvSpPr/>
          <p:nvPr/>
        </p:nvSpPr>
        <p:spPr>
          <a:xfrm>
            <a:off x="609585" y="5598517"/>
            <a:ext cx="10972526" cy="31651"/>
          </a:xfrm>
          <a:prstGeom prst="roundRect">
            <a:avLst>
              <a:gd name="adj" fmla="val 49998"/>
            </a:avLst>
          </a:prstGeom>
          <a:solidFill>
            <a:srgbClr val="454B68"/>
          </a:solidFill>
          <a:ln/>
        </p:spPr>
      </p:sp>
      <p:sp>
        <p:nvSpPr>
          <p:cNvPr id="37" name="Text 34"/>
          <p:cNvSpPr/>
          <p:nvPr/>
        </p:nvSpPr>
        <p:spPr>
          <a:xfrm>
            <a:off x="609585" y="5854105"/>
            <a:ext cx="10972526" cy="3942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150" spc="11" kern="0" dirty="0">
                <a:solidFill>
                  <a:srgbClr val="8A90A8"/>
                </a:solidFill>
                <a:latin typeface="Fragment Mono" pitchFamily="34" charset="0"/>
                <a:ea typeface="Fragment Mono" pitchFamily="34" charset="-122"/>
                <a:cs typeface="Fragment Mono" pitchFamily="34" charset="-120"/>
              </a:rPr>
              <a:t>Collaborative engineering division: modular ownership enabled parallel development across routes, controllers, and verification.</a:t>
            </a:r>
            <a:endParaRPr lang="en-US" sz="1150" dirty="0"/>
          </a:p>
        </p:txBody>
      </p:sp>
      <p:sp>
        <p:nvSpPr>
          <p:cNvPr id="38" name="Text 35"/>
          <p:cNvSpPr/>
          <p:nvPr/>
        </p:nvSpPr>
        <p:spPr>
          <a:xfrm>
            <a:off x="11406597" y="6456561"/>
            <a:ext cx="785098" cy="19327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050" spc="42" kern="0" dirty="0">
                <a:solidFill>
                  <a:srgbClr val="C9CCDA"/>
                </a:solidFill>
                <a:latin typeface="Fragment Mono" pitchFamily="34" charset="0"/>
                <a:ea typeface="Fragment Mono" pitchFamily="34" charset="-122"/>
                <a:cs typeface="Fragment Mono" pitchFamily="34" charset="-120"/>
              </a:rPr>
              <a:t>02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09600"/>
            <a:ext cx="11582110" cy="1885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00" spc="66" kern="0" dirty="0">
                <a:solidFill>
                  <a:srgbClr val="A9AEC4"/>
                </a:solidFill>
                <a:latin typeface="Fragment Mono" pitchFamily="34" charset="0"/>
                <a:ea typeface="Fragment Mono" pitchFamily="34" charset="-122"/>
                <a:cs typeface="Fragment Mono" pitchFamily="34" charset="-120"/>
              </a:rPr>
              <a:t>CORE SERVICE CONTRACT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09585" y="877491"/>
            <a:ext cx="10972526" cy="419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3000" spc="-45" kern="0" dirty="0">
                <a:solidFill>
                  <a:srgbClr val="E8EAF2"/>
                </a:solidFill>
                <a:latin typeface="Geist Light" pitchFamily="34" charset="0"/>
                <a:ea typeface="Geist Light" pitchFamily="34" charset="-122"/>
                <a:cs typeface="Geist Light" pitchFamily="34" charset="-120"/>
              </a:rPr>
              <a:t>The service has one job: make context usable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09585" y="1493441"/>
            <a:ext cx="11582110" cy="1971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150" spc="11" kern="0" dirty="0">
                <a:solidFill>
                  <a:srgbClr val="8A90A8"/>
                </a:solidFill>
                <a:latin typeface="Fragment Mono" pitchFamily="34" charset="0"/>
                <a:ea typeface="Fragment Mono" pitchFamily="34" charset="-122"/>
                <a:cs typeface="Fragment Mono" pitchFamily="34" charset="-120"/>
              </a:rPr>
              <a:t>Raw weather values lack decision context until filtered, prompted, and protected behind an API boundary.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609585" y="1868388"/>
            <a:ext cx="2514537" cy="2587625"/>
          </a:xfrm>
          <a:prstGeom prst="roundRect">
            <a:avLst>
              <a:gd name="adj" fmla="val 455"/>
            </a:avLst>
          </a:prstGeom>
          <a:solidFill>
            <a:srgbClr val="1B1D2A"/>
          </a:solidFill>
          <a:ln/>
        </p:spPr>
      </p:sp>
      <p:sp>
        <p:nvSpPr>
          <p:cNvPr id="6" name="Text 4"/>
          <p:cNvSpPr/>
          <p:nvPr/>
        </p:nvSpPr>
        <p:spPr>
          <a:xfrm>
            <a:off x="838179" y="2096988"/>
            <a:ext cx="2285943" cy="1885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00" spc="66" kern="0" dirty="0">
                <a:solidFill>
                  <a:srgbClr val="A9AEC4"/>
                </a:solidFill>
                <a:latin typeface="Fragment Mono" pitchFamily="34" charset="0"/>
                <a:ea typeface="Fragment Mono" pitchFamily="34" charset="-122"/>
                <a:cs typeface="Fragment Mono" pitchFamily="34" charset="-120"/>
              </a:rPr>
              <a:t>STAGE 01 · INGESTION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38179" y="2364879"/>
            <a:ext cx="2057349" cy="2849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700" dirty="0">
                <a:solidFill>
                  <a:srgbClr val="E8EAF2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Accept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838179" y="2838748"/>
            <a:ext cx="2057349" cy="31651"/>
          </a:xfrm>
          <a:prstGeom prst="roundRect">
            <a:avLst>
              <a:gd name="adj" fmla="val 49998"/>
            </a:avLst>
          </a:prstGeom>
          <a:solidFill>
            <a:srgbClr val="454B68"/>
          </a:solidFill>
          <a:ln/>
        </p:spPr>
      </p:sp>
      <p:sp>
        <p:nvSpPr>
          <p:cNvPr id="9" name="Text 7"/>
          <p:cNvSpPr/>
          <p:nvPr/>
        </p:nvSpPr>
        <p:spPr>
          <a:xfrm>
            <a:off x="838179" y="3030835"/>
            <a:ext cx="2057349" cy="11965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300" dirty="0">
                <a:solidFill>
                  <a:srgbClr val="C9CCD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Consumes structured weather data including temperature, rain chance, sky conditions, and wind metrics.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28914" y="1868388"/>
            <a:ext cx="2514537" cy="2587625"/>
          </a:xfrm>
          <a:prstGeom prst="roundRect">
            <a:avLst>
              <a:gd name="adj" fmla="val 455"/>
            </a:avLst>
          </a:prstGeom>
          <a:solidFill>
            <a:srgbClr val="1B1D2A"/>
          </a:solidFill>
          <a:ln/>
        </p:spPr>
      </p:sp>
      <p:sp>
        <p:nvSpPr>
          <p:cNvPr id="11" name="Text 9"/>
          <p:cNvSpPr/>
          <p:nvPr/>
        </p:nvSpPr>
        <p:spPr>
          <a:xfrm>
            <a:off x="3657509" y="2096988"/>
            <a:ext cx="2285943" cy="1885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00" spc="66" kern="0" dirty="0">
                <a:solidFill>
                  <a:srgbClr val="A9AEC4"/>
                </a:solidFill>
                <a:latin typeface="Fragment Mono" pitchFamily="34" charset="0"/>
                <a:ea typeface="Fragment Mono" pitchFamily="34" charset="-122"/>
                <a:cs typeface="Fragment Mono" pitchFamily="34" charset="-120"/>
              </a:rPr>
              <a:t>STAGE 02 · INTEGRITY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657509" y="2364879"/>
            <a:ext cx="2057349" cy="2849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700" dirty="0">
                <a:solidFill>
                  <a:srgbClr val="E8EAF2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Validate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3657509" y="2838748"/>
            <a:ext cx="2057349" cy="31651"/>
          </a:xfrm>
          <a:prstGeom prst="roundRect">
            <a:avLst>
              <a:gd name="adj" fmla="val 49998"/>
            </a:avLst>
          </a:prstGeom>
          <a:solidFill>
            <a:srgbClr val="454B68"/>
          </a:solidFill>
          <a:ln/>
        </p:spPr>
      </p:sp>
      <p:sp>
        <p:nvSpPr>
          <p:cNvPr id="14" name="Text 12"/>
          <p:cNvSpPr/>
          <p:nvPr/>
        </p:nvSpPr>
        <p:spPr>
          <a:xfrm>
            <a:off x="3657509" y="3030835"/>
            <a:ext cx="2057349" cy="11965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300" dirty="0">
                <a:solidFill>
                  <a:srgbClr val="C9CCD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Enforces rigorous checks against required fields, valid primitive types, and physiologically plausible boundaries.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248244" y="1868388"/>
            <a:ext cx="2514537" cy="2587625"/>
          </a:xfrm>
          <a:prstGeom prst="roundRect">
            <a:avLst>
              <a:gd name="adj" fmla="val 455"/>
            </a:avLst>
          </a:prstGeom>
          <a:solidFill>
            <a:srgbClr val="1B1D2A"/>
          </a:solidFill>
          <a:ln/>
        </p:spPr>
      </p:sp>
      <p:sp>
        <p:nvSpPr>
          <p:cNvPr id="16" name="Text 14"/>
          <p:cNvSpPr/>
          <p:nvPr/>
        </p:nvSpPr>
        <p:spPr>
          <a:xfrm>
            <a:off x="6476838" y="2096988"/>
            <a:ext cx="2285943" cy="1885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00" spc="66" kern="0" dirty="0">
                <a:solidFill>
                  <a:srgbClr val="A9AEC4"/>
                </a:solidFill>
                <a:latin typeface="Fragment Mono" pitchFamily="34" charset="0"/>
                <a:ea typeface="Fragment Mono" pitchFamily="34" charset="-122"/>
                <a:cs typeface="Fragment Mono" pitchFamily="34" charset="-120"/>
              </a:rPr>
              <a:t>STAGE 03 · SYNTHESIS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476838" y="2364879"/>
            <a:ext cx="2057349" cy="2849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700" dirty="0">
                <a:solidFill>
                  <a:srgbClr val="E8EAF2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Advise</a:t>
            </a:r>
            <a:endParaRPr lang="en-US" sz="1700" dirty="0"/>
          </a:p>
        </p:txBody>
      </p:sp>
      <p:sp>
        <p:nvSpPr>
          <p:cNvPr id="18" name="Shape 16"/>
          <p:cNvSpPr/>
          <p:nvPr/>
        </p:nvSpPr>
        <p:spPr>
          <a:xfrm>
            <a:off x="6476838" y="2838748"/>
            <a:ext cx="2057349" cy="31651"/>
          </a:xfrm>
          <a:prstGeom prst="roundRect">
            <a:avLst>
              <a:gd name="adj" fmla="val 49998"/>
            </a:avLst>
          </a:prstGeom>
          <a:solidFill>
            <a:srgbClr val="454B68"/>
          </a:solidFill>
          <a:ln/>
        </p:spPr>
      </p:sp>
      <p:sp>
        <p:nvSpPr>
          <p:cNvPr id="19" name="Text 17"/>
          <p:cNvSpPr/>
          <p:nvPr/>
        </p:nvSpPr>
        <p:spPr>
          <a:xfrm>
            <a:off x="6476838" y="3030835"/>
            <a:ext cx="2057349" cy="11965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300" dirty="0">
                <a:solidFill>
                  <a:srgbClr val="C9CCD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Synthesizes environmental factors through LLM prompting to return clear summaries and actionable clothing tips.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9067573" y="1868388"/>
            <a:ext cx="2514537" cy="2587625"/>
          </a:xfrm>
          <a:prstGeom prst="roundRect">
            <a:avLst>
              <a:gd name="adj" fmla="val 455"/>
            </a:avLst>
          </a:prstGeom>
          <a:solidFill>
            <a:srgbClr val="1B1D2A"/>
          </a:solidFill>
          <a:ln/>
        </p:spPr>
      </p:sp>
      <p:sp>
        <p:nvSpPr>
          <p:cNvPr id="21" name="Text 19"/>
          <p:cNvSpPr/>
          <p:nvPr/>
        </p:nvSpPr>
        <p:spPr>
          <a:xfrm>
            <a:off x="9296167" y="2096988"/>
            <a:ext cx="2285943" cy="1885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00" spc="66" kern="0" dirty="0">
                <a:solidFill>
                  <a:srgbClr val="A9AEC4"/>
                </a:solidFill>
                <a:latin typeface="Fragment Mono" pitchFamily="34" charset="0"/>
                <a:ea typeface="Fragment Mono" pitchFamily="34" charset="-122"/>
                <a:cs typeface="Fragment Mono" pitchFamily="34" charset="-120"/>
              </a:rPr>
              <a:t>STAGE 04 · SECURITY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9296167" y="2364879"/>
            <a:ext cx="2057349" cy="2849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700" dirty="0">
                <a:solidFill>
                  <a:srgbClr val="E8EAF2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Protect</a:t>
            </a:r>
            <a:endParaRPr lang="en-US" sz="1700" dirty="0"/>
          </a:p>
        </p:txBody>
      </p:sp>
      <p:sp>
        <p:nvSpPr>
          <p:cNvPr id="23" name="Shape 21"/>
          <p:cNvSpPr/>
          <p:nvPr/>
        </p:nvSpPr>
        <p:spPr>
          <a:xfrm>
            <a:off x="9296167" y="2838748"/>
            <a:ext cx="2057349" cy="31651"/>
          </a:xfrm>
          <a:prstGeom prst="roundRect">
            <a:avLst>
              <a:gd name="adj" fmla="val 49998"/>
            </a:avLst>
          </a:prstGeom>
          <a:solidFill>
            <a:srgbClr val="454B68"/>
          </a:solidFill>
          <a:ln/>
        </p:spPr>
      </p:sp>
      <p:sp>
        <p:nvSpPr>
          <p:cNvPr id="24" name="Text 22"/>
          <p:cNvSpPr/>
          <p:nvPr/>
        </p:nvSpPr>
        <p:spPr>
          <a:xfrm>
            <a:off x="9296167" y="3030835"/>
            <a:ext cx="2057349" cy="11965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300" dirty="0">
                <a:solidFill>
                  <a:srgbClr val="C9CCD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Isolates internal prompts, Gemini keys, and database connection strings safely behind server-side middleware.</a:t>
            </a:r>
            <a:endParaRPr lang="en-US" sz="1300" dirty="0"/>
          </a:p>
        </p:txBody>
      </p:sp>
      <p:pic>
        <p:nvPicPr>
          <p:cNvPr id="2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585" y="4633813"/>
            <a:ext cx="3386549" cy="1904901"/>
          </a:xfrm>
          <a:prstGeom prst="rect">
            <a:avLst/>
          </a:prstGeom>
        </p:spPr>
      </p:pic>
      <p:sp>
        <p:nvSpPr>
          <p:cNvPr id="26" name="Text 23"/>
          <p:cNvSpPr/>
          <p:nvPr/>
        </p:nvSpPr>
        <p:spPr>
          <a:xfrm>
            <a:off x="11406597" y="6456561"/>
            <a:ext cx="785098" cy="19327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050" spc="42" kern="0" dirty="0">
                <a:solidFill>
                  <a:srgbClr val="C9CCDA"/>
                </a:solidFill>
                <a:latin typeface="Fragment Mono" pitchFamily="34" charset="0"/>
                <a:ea typeface="Fragment Mono" pitchFamily="34" charset="-122"/>
                <a:cs typeface="Fragment Mono" pitchFamily="34" charset="-120"/>
              </a:rPr>
              <a:t>03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58786" y="381000"/>
            <a:ext cx="11632909" cy="1520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00" spc="53" kern="0" dirty="0">
                <a:solidFill>
                  <a:srgbClr val="A9AEC4"/>
                </a:solidFill>
                <a:latin typeface="Fragment Mono" pitchFamily="34" charset="0"/>
                <a:ea typeface="Fragment Mono" pitchFamily="34" charset="-122"/>
                <a:cs typeface="Fragment Mono" pitchFamily="34" charset="-120"/>
              </a:rPr>
              <a:t>EXECUTION LIFECYCLE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58786" y="584498"/>
            <a:ext cx="11074123" cy="3377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2400" spc="-36" kern="0" dirty="0">
                <a:solidFill>
                  <a:srgbClr val="E8EAF2"/>
                </a:solidFill>
                <a:latin typeface="Geist Light" pitchFamily="34" charset="0"/>
                <a:ea typeface="Geist Light" pitchFamily="34" charset="-122"/>
                <a:cs typeface="Geist Light" pitchFamily="34" charset="-120"/>
              </a:rPr>
              <a:t>Five steps connect the request to the recommendation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58786" y="1050032"/>
            <a:ext cx="799187" cy="153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200" dirty="0">
                <a:solidFill>
                  <a:srgbClr val="8A90A8"/>
                </a:solidFill>
                <a:latin typeface="Fragment Mono" pitchFamily="34" charset="0"/>
                <a:ea typeface="Fragment Mono" pitchFamily="34" charset="-122"/>
                <a:cs typeface="Fragment Mono" pitchFamily="34" charset="-120"/>
              </a:rPr>
              <a:t>01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58786" y="1406723"/>
            <a:ext cx="11074123" cy="2009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1200" dirty="0">
                <a:solidFill>
                  <a:srgbClr val="C9CCD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Send an HTTP POST request with weather details.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58786" y="2064841"/>
            <a:ext cx="799187" cy="153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200" dirty="0">
                <a:solidFill>
                  <a:srgbClr val="8A90A8"/>
                </a:solidFill>
                <a:latin typeface="Fragment Mono" pitchFamily="34" charset="0"/>
                <a:ea typeface="Fragment Mono" pitchFamily="34" charset="-122"/>
                <a:cs typeface="Fragment Mono" pitchFamily="34" charset="-120"/>
              </a:rPr>
              <a:t>02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58786" y="2421533"/>
            <a:ext cx="11074123" cy="2009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1200" dirty="0">
                <a:solidFill>
                  <a:srgbClr val="C9CCD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Check the data in Node.js.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58786" y="3079651"/>
            <a:ext cx="799187" cy="153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200" dirty="0">
                <a:solidFill>
                  <a:srgbClr val="8A90A8"/>
                </a:solidFill>
                <a:latin typeface="Fragment Mono" pitchFamily="34" charset="0"/>
                <a:ea typeface="Fragment Mono" pitchFamily="34" charset="-122"/>
                <a:cs typeface="Fragment Mono" pitchFamily="34" charset="-120"/>
              </a:rPr>
              <a:t>03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58786" y="3436342"/>
            <a:ext cx="11074123" cy="2009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1200" dirty="0">
                <a:solidFill>
                  <a:srgbClr val="C9CCD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Ask Google Gemini to create suggestions.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58786" y="4094460"/>
            <a:ext cx="799187" cy="153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200" dirty="0">
                <a:solidFill>
                  <a:srgbClr val="8A90A8"/>
                </a:solidFill>
                <a:latin typeface="Fragment Mono" pitchFamily="34" charset="0"/>
                <a:ea typeface="Fragment Mono" pitchFamily="34" charset="-122"/>
                <a:cs typeface="Fragment Mono" pitchFamily="34" charset="-120"/>
              </a:rPr>
              <a:t>04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58786" y="4451152"/>
            <a:ext cx="11074123" cy="2009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1200" dirty="0">
                <a:solidFill>
                  <a:srgbClr val="C9CCD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Save the request and advice in MongoDB.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58786" y="5109270"/>
            <a:ext cx="799187" cy="153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200" dirty="0">
                <a:solidFill>
                  <a:srgbClr val="8A90A8"/>
                </a:solidFill>
                <a:latin typeface="Fragment Mono" pitchFamily="34" charset="0"/>
                <a:ea typeface="Fragment Mono" pitchFamily="34" charset="-122"/>
                <a:cs typeface="Fragment Mono" pitchFamily="34" charset="-120"/>
              </a:rPr>
              <a:t>05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58786" y="5465961"/>
            <a:ext cx="11074123" cy="2009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1200" dirty="0">
                <a:solidFill>
                  <a:srgbClr val="C9CCD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Return the result as JSON with a status code.</a:t>
            </a:r>
            <a:endParaRPr lang="en-US" sz="1200" dirty="0"/>
          </a:p>
        </p:txBody>
      </p:sp>
      <p:pic>
        <p:nvPicPr>
          <p:cNvPr id="1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8786" y="5782270"/>
            <a:ext cx="1919041" cy="1079401"/>
          </a:xfrm>
          <a:prstGeom prst="rect">
            <a:avLst/>
          </a:prstGeom>
        </p:spPr>
      </p:pic>
      <p:sp>
        <p:nvSpPr>
          <p:cNvPr id="15" name="Shape 12"/>
          <p:cNvSpPr/>
          <p:nvPr/>
        </p:nvSpPr>
        <p:spPr>
          <a:xfrm>
            <a:off x="558786" y="1829891"/>
            <a:ext cx="11074123" cy="12700"/>
          </a:xfrm>
          <a:prstGeom prst="rect">
            <a:avLst/>
          </a:prstGeom>
          <a:solidFill>
            <a:srgbClr val="454B68"/>
          </a:solidFill>
          <a:ln/>
        </p:spPr>
      </p:sp>
      <p:sp>
        <p:nvSpPr>
          <p:cNvPr id="16" name="Shape 13"/>
          <p:cNvSpPr/>
          <p:nvPr/>
        </p:nvSpPr>
        <p:spPr>
          <a:xfrm>
            <a:off x="558786" y="2844701"/>
            <a:ext cx="11074123" cy="12700"/>
          </a:xfrm>
          <a:prstGeom prst="rect">
            <a:avLst/>
          </a:prstGeom>
          <a:solidFill>
            <a:srgbClr val="454B68"/>
          </a:solidFill>
          <a:ln/>
        </p:spPr>
      </p:sp>
      <p:sp>
        <p:nvSpPr>
          <p:cNvPr id="17" name="Shape 14"/>
          <p:cNvSpPr/>
          <p:nvPr/>
        </p:nvSpPr>
        <p:spPr>
          <a:xfrm>
            <a:off x="558786" y="3859510"/>
            <a:ext cx="11074123" cy="12700"/>
          </a:xfrm>
          <a:prstGeom prst="rect">
            <a:avLst/>
          </a:prstGeom>
          <a:solidFill>
            <a:srgbClr val="454B68"/>
          </a:solidFill>
          <a:ln/>
        </p:spPr>
      </p:sp>
      <p:sp>
        <p:nvSpPr>
          <p:cNvPr id="18" name="Shape 15"/>
          <p:cNvSpPr/>
          <p:nvPr/>
        </p:nvSpPr>
        <p:spPr>
          <a:xfrm>
            <a:off x="558786" y="4874320"/>
            <a:ext cx="11074123" cy="12700"/>
          </a:xfrm>
          <a:prstGeom prst="rect">
            <a:avLst/>
          </a:prstGeom>
          <a:solidFill>
            <a:srgbClr val="454B68"/>
          </a:solidFill>
          <a:ln/>
        </p:spPr>
      </p:sp>
      <p:sp>
        <p:nvSpPr>
          <p:cNvPr id="19" name="Text 16"/>
          <p:cNvSpPr/>
          <p:nvPr/>
        </p:nvSpPr>
        <p:spPr>
          <a:xfrm>
            <a:off x="11406597" y="6456561"/>
            <a:ext cx="785098" cy="19327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050" spc="42" kern="0" dirty="0">
                <a:solidFill>
                  <a:srgbClr val="C9CCDA"/>
                </a:solidFill>
                <a:latin typeface="Fragment Mono" pitchFamily="34" charset="0"/>
                <a:ea typeface="Fragment Mono" pitchFamily="34" charset="-122"/>
                <a:cs typeface="Fragment Mono" pitchFamily="34" charset="-120"/>
              </a:rPr>
              <a:t>04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09600"/>
            <a:ext cx="11582110" cy="1885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00" spc="66" kern="0" dirty="0">
                <a:solidFill>
                  <a:srgbClr val="A9AEC4"/>
                </a:solidFill>
                <a:latin typeface="Fragment Mono" pitchFamily="34" charset="0"/>
                <a:ea typeface="Fragment Mono" pitchFamily="34" charset="-122"/>
                <a:cs typeface="Fragment Mono" pitchFamily="34" charset="-120"/>
              </a:rPr>
              <a:t>SUBSYSTEM DECOUPLING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09585" y="877491"/>
            <a:ext cx="10972526" cy="419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3000" spc="-45" kern="0" dirty="0">
                <a:solidFill>
                  <a:srgbClr val="E8EAF2"/>
                </a:solidFill>
                <a:latin typeface="Geist Light" pitchFamily="34" charset="0"/>
                <a:ea typeface="Geist Light" pitchFamily="34" charset="-122"/>
                <a:cs typeface="Geist Light" pitchFamily="34" charset="-120"/>
              </a:rPr>
              <a:t>The stack separates handling, intelligence and evidence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09585" y="1493441"/>
            <a:ext cx="11582110" cy="1971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150" spc="11" kern="0" dirty="0">
                <a:solidFill>
                  <a:srgbClr val="8A90A8"/>
                </a:solidFill>
                <a:latin typeface="Fragment Mono" pitchFamily="34" charset="0"/>
                <a:ea typeface="Fragment Mono" pitchFamily="34" charset="-122"/>
                <a:cs typeface="Fragment Mono" pitchFamily="34" charset="-120"/>
              </a:rPr>
              <a:t>Distinct architectural layers guarantee isolation between network IO, AI inference, and durable logging.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609585" y="1868388"/>
            <a:ext cx="2514537" cy="3402509"/>
          </a:xfrm>
          <a:prstGeom prst="roundRect">
            <a:avLst>
              <a:gd name="adj" fmla="val 455"/>
            </a:avLst>
          </a:prstGeom>
          <a:noFill/>
          <a:ln w="25399">
            <a:solidFill>
              <a:srgbClr val="43455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3578" y="2122388"/>
            <a:ext cx="2260543" cy="1885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00" spc="66" kern="0" dirty="0">
                <a:solidFill>
                  <a:srgbClr val="A9AEC4"/>
                </a:solidFill>
                <a:latin typeface="Fragment Mono" pitchFamily="34" charset="0"/>
                <a:ea typeface="Fragment Mono" pitchFamily="34" charset="-122"/>
                <a:cs typeface="Fragment Mono" pitchFamily="34" charset="-120"/>
              </a:rPr>
              <a:t>HANDLING LAYER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63578" y="2390279"/>
            <a:ext cx="2006550" cy="737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200" dirty="0">
                <a:solidFill>
                  <a:srgbClr val="E8EAF2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Node.js + Express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863578" y="3316784"/>
            <a:ext cx="2006550" cy="31651"/>
          </a:xfrm>
          <a:prstGeom prst="roundRect">
            <a:avLst>
              <a:gd name="adj" fmla="val 49998"/>
            </a:avLst>
          </a:prstGeom>
          <a:solidFill>
            <a:srgbClr val="454B68"/>
          </a:solidFill>
          <a:ln/>
        </p:spPr>
      </p:sp>
      <p:sp>
        <p:nvSpPr>
          <p:cNvPr id="9" name="Text 7"/>
          <p:cNvSpPr/>
          <p:nvPr/>
        </p:nvSpPr>
        <p:spPr>
          <a:xfrm>
            <a:off x="863578" y="3508871"/>
            <a:ext cx="2006550" cy="11965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300" dirty="0">
                <a:solidFill>
                  <a:srgbClr val="C9CCD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Hosts the runtime server, manages HTTP lifecycle, validates inputs, and orchestrates API middleware flow.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63578" y="4819749"/>
            <a:ext cx="2260543" cy="1971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150" spc="11" kern="0" dirty="0">
                <a:solidFill>
                  <a:srgbClr val="8A90A8"/>
                </a:solidFill>
                <a:latin typeface="Fragment Mono" pitchFamily="34" charset="0"/>
                <a:ea typeface="Fragment Mono" pitchFamily="34" charset="-122"/>
                <a:cs typeface="Fragment Mono" pitchFamily="34" charset="-120"/>
              </a:rPr>
              <a:t>Runtime &amp; Routing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3428914" y="1868388"/>
            <a:ext cx="2514537" cy="3402509"/>
          </a:xfrm>
          <a:prstGeom prst="roundRect">
            <a:avLst>
              <a:gd name="adj" fmla="val 455"/>
            </a:avLst>
          </a:prstGeom>
          <a:noFill/>
          <a:ln w="25399">
            <a:solidFill>
              <a:srgbClr val="43455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82908" y="2122388"/>
            <a:ext cx="2260543" cy="1885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00" spc="66" kern="0" dirty="0">
                <a:solidFill>
                  <a:srgbClr val="A9AEC4"/>
                </a:solidFill>
                <a:latin typeface="Fragment Mono" pitchFamily="34" charset="0"/>
                <a:ea typeface="Fragment Mono" pitchFamily="34" charset="-122"/>
                <a:cs typeface="Fragment Mono" pitchFamily="34" charset="-120"/>
              </a:rPr>
              <a:t>INTELLIGENCE LAYER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682908" y="2390279"/>
            <a:ext cx="2006550" cy="3687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200" dirty="0">
                <a:solidFill>
                  <a:srgbClr val="E8EAF2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Google Gemini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3682908" y="2947988"/>
            <a:ext cx="2006550" cy="31651"/>
          </a:xfrm>
          <a:prstGeom prst="roundRect">
            <a:avLst>
              <a:gd name="adj" fmla="val 49998"/>
            </a:avLst>
          </a:prstGeom>
          <a:solidFill>
            <a:srgbClr val="454B68"/>
          </a:solidFill>
          <a:ln/>
        </p:spPr>
      </p:sp>
      <p:sp>
        <p:nvSpPr>
          <p:cNvPr id="15" name="Text 13"/>
          <p:cNvSpPr/>
          <p:nvPr/>
        </p:nvSpPr>
        <p:spPr>
          <a:xfrm>
            <a:off x="3682908" y="3140075"/>
            <a:ext cx="2006550" cy="14358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300" dirty="0">
                <a:solidFill>
                  <a:srgbClr val="C9CCD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Processes sanitized inputs into nuanced natural-language summaries, gear suggestions, and activity advisories.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682908" y="4690269"/>
            <a:ext cx="2260543" cy="1971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150" spc="11" kern="0" dirty="0">
                <a:solidFill>
                  <a:srgbClr val="8A90A8"/>
                </a:solidFill>
                <a:latin typeface="Fragment Mono" pitchFamily="34" charset="0"/>
                <a:ea typeface="Fragment Mono" pitchFamily="34" charset="-122"/>
                <a:cs typeface="Fragment Mono" pitchFamily="34" charset="-120"/>
              </a:rPr>
              <a:t>Gen AI Inference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248244" y="1868388"/>
            <a:ext cx="2514537" cy="3402509"/>
          </a:xfrm>
          <a:prstGeom prst="roundRect">
            <a:avLst>
              <a:gd name="adj" fmla="val 455"/>
            </a:avLst>
          </a:prstGeom>
          <a:noFill/>
          <a:ln w="25399">
            <a:solidFill>
              <a:srgbClr val="43455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502237" y="2122388"/>
            <a:ext cx="2260543" cy="1885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00" spc="66" kern="0" dirty="0">
                <a:solidFill>
                  <a:srgbClr val="A9AEC4"/>
                </a:solidFill>
                <a:latin typeface="Fragment Mono" pitchFamily="34" charset="0"/>
                <a:ea typeface="Fragment Mono" pitchFamily="34" charset="-122"/>
                <a:cs typeface="Fragment Mono" pitchFamily="34" charset="-120"/>
              </a:rPr>
              <a:t>EVIDENCE LAYER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502237" y="2390279"/>
            <a:ext cx="2006550" cy="3687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200" dirty="0">
                <a:solidFill>
                  <a:srgbClr val="E8EAF2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MongoDB</a:t>
            </a:r>
            <a:endParaRPr lang="en-US" sz="2200" dirty="0"/>
          </a:p>
        </p:txBody>
      </p:sp>
      <p:sp>
        <p:nvSpPr>
          <p:cNvPr id="20" name="Shape 18"/>
          <p:cNvSpPr/>
          <p:nvPr/>
        </p:nvSpPr>
        <p:spPr>
          <a:xfrm>
            <a:off x="6502237" y="2947988"/>
            <a:ext cx="2006550" cy="31651"/>
          </a:xfrm>
          <a:prstGeom prst="roundRect">
            <a:avLst>
              <a:gd name="adj" fmla="val 49998"/>
            </a:avLst>
          </a:prstGeom>
          <a:solidFill>
            <a:srgbClr val="454B68"/>
          </a:solidFill>
          <a:ln/>
        </p:spPr>
      </p:sp>
      <p:sp>
        <p:nvSpPr>
          <p:cNvPr id="21" name="Text 19"/>
          <p:cNvSpPr/>
          <p:nvPr/>
        </p:nvSpPr>
        <p:spPr>
          <a:xfrm>
            <a:off x="6502237" y="3140075"/>
            <a:ext cx="2006550" cy="11965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300" dirty="0">
                <a:solidFill>
                  <a:srgbClr val="C9CCD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Maintains durable operational history, persisting request parameters, output logs, and service telemetry.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502237" y="4450953"/>
            <a:ext cx="2260543" cy="1971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150" spc="11" kern="0" dirty="0">
                <a:solidFill>
                  <a:srgbClr val="8A90A8"/>
                </a:solidFill>
                <a:latin typeface="Fragment Mono" pitchFamily="34" charset="0"/>
                <a:ea typeface="Fragment Mono" pitchFamily="34" charset="-122"/>
                <a:cs typeface="Fragment Mono" pitchFamily="34" charset="-120"/>
              </a:rPr>
              <a:t>Document Storage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9067573" y="1868388"/>
            <a:ext cx="2514537" cy="3402509"/>
          </a:xfrm>
          <a:prstGeom prst="roundRect">
            <a:avLst>
              <a:gd name="adj" fmla="val 455"/>
            </a:avLst>
          </a:prstGeom>
          <a:noFill/>
          <a:ln w="25399">
            <a:solidFill>
              <a:srgbClr val="43455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321567" y="2122388"/>
            <a:ext cx="2260543" cy="1885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00" spc="66" kern="0" dirty="0">
                <a:solidFill>
                  <a:srgbClr val="A9AEC4"/>
                </a:solidFill>
                <a:latin typeface="Fragment Mono" pitchFamily="34" charset="0"/>
                <a:ea typeface="Fragment Mono" pitchFamily="34" charset="-122"/>
                <a:cs typeface="Fragment Mono" pitchFamily="34" charset="-120"/>
              </a:rPr>
              <a:t>VERIFICATION TOOL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9321567" y="2390279"/>
            <a:ext cx="2006550" cy="3687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200" dirty="0">
                <a:solidFill>
                  <a:srgbClr val="E8EAF2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Postman</a:t>
            </a:r>
            <a:endParaRPr lang="en-US" sz="2200" dirty="0"/>
          </a:p>
        </p:txBody>
      </p:sp>
      <p:sp>
        <p:nvSpPr>
          <p:cNvPr id="26" name="Shape 24"/>
          <p:cNvSpPr/>
          <p:nvPr/>
        </p:nvSpPr>
        <p:spPr>
          <a:xfrm>
            <a:off x="9321567" y="2947988"/>
            <a:ext cx="2006550" cy="31651"/>
          </a:xfrm>
          <a:prstGeom prst="roundRect">
            <a:avLst>
              <a:gd name="adj" fmla="val 49998"/>
            </a:avLst>
          </a:prstGeom>
          <a:solidFill>
            <a:srgbClr val="454B68"/>
          </a:solidFill>
          <a:ln/>
        </p:spPr>
      </p:sp>
      <p:sp>
        <p:nvSpPr>
          <p:cNvPr id="27" name="Text 25"/>
          <p:cNvSpPr/>
          <p:nvPr/>
        </p:nvSpPr>
        <p:spPr>
          <a:xfrm>
            <a:off x="9321567" y="3140075"/>
            <a:ext cx="2006550" cy="14358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300" dirty="0">
                <a:solidFill>
                  <a:srgbClr val="C9CCD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Executes manual and automated endpoint testing, verifying header formats, payload structures, and status codes.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9321567" y="4690269"/>
            <a:ext cx="2260543" cy="1971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150" spc="11" kern="0" dirty="0">
                <a:solidFill>
                  <a:srgbClr val="8A90A8"/>
                </a:solidFill>
                <a:latin typeface="Fragment Mono" pitchFamily="34" charset="0"/>
                <a:ea typeface="Fragment Mono" pitchFamily="34" charset="-122"/>
                <a:cs typeface="Fragment Mono" pitchFamily="34" charset="-120"/>
              </a:rPr>
              <a:t>Client Testing Rig</a:t>
            </a:r>
            <a:endParaRPr lang="en-US" sz="1150" dirty="0"/>
          </a:p>
        </p:txBody>
      </p:sp>
      <p:pic>
        <p:nvPicPr>
          <p:cNvPr id="2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585" y="5448697"/>
            <a:ext cx="1919041" cy="1079401"/>
          </a:xfrm>
          <a:prstGeom prst="rect">
            <a:avLst/>
          </a:prstGeom>
        </p:spPr>
      </p:pic>
      <p:sp>
        <p:nvSpPr>
          <p:cNvPr id="30" name="Text 27"/>
          <p:cNvSpPr/>
          <p:nvPr/>
        </p:nvSpPr>
        <p:spPr>
          <a:xfrm>
            <a:off x="11406597" y="6456561"/>
            <a:ext cx="785098" cy="19327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050" spc="42" kern="0" dirty="0">
                <a:solidFill>
                  <a:srgbClr val="C9CCDA"/>
                </a:solidFill>
                <a:latin typeface="Fragment Mono" pitchFamily="34" charset="0"/>
                <a:ea typeface="Fragment Mono" pitchFamily="34" charset="-122"/>
                <a:cs typeface="Fragment Mono" pitchFamily="34" charset="-120"/>
              </a:rPr>
              <a:t>05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09600"/>
            <a:ext cx="11582110" cy="1885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00" spc="66" kern="0" dirty="0">
                <a:solidFill>
                  <a:srgbClr val="A9AEC4"/>
                </a:solidFill>
                <a:latin typeface="Fragment Mono" pitchFamily="34" charset="0"/>
                <a:ea typeface="Fragment Mono" pitchFamily="34" charset="-122"/>
                <a:cs typeface="Fragment Mono" pitchFamily="34" charset="-120"/>
              </a:rPr>
              <a:t>ENGINEERING TIMELINE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09585" y="877491"/>
            <a:ext cx="10972526" cy="419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3000" spc="-45" kern="0" dirty="0">
                <a:solidFill>
                  <a:srgbClr val="E8EAF2"/>
                </a:solidFill>
                <a:latin typeface="Geist Light" pitchFamily="34" charset="0"/>
                <a:ea typeface="Geist Light" pitchFamily="34" charset="-122"/>
                <a:cs typeface="Geist Light" pitchFamily="34" charset="-120"/>
              </a:rPr>
              <a:t>Development moved from setup to reliability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09585" y="1493441"/>
            <a:ext cx="11582110" cy="1971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150" spc="11" kern="0" dirty="0">
                <a:solidFill>
                  <a:srgbClr val="8A90A8"/>
                </a:solidFill>
                <a:latin typeface="Fragment Mono" pitchFamily="34" charset="0"/>
                <a:ea typeface="Fragment Mono" pitchFamily="34" charset="-122"/>
                <a:cs typeface="Fragment Mono" pitchFamily="34" charset="-120"/>
              </a:rPr>
              <a:t>Iterative engineering methodology progressing from dependency bootstrapping to verified system resiliency.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609585" y="1868388"/>
            <a:ext cx="819130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500" dirty="0">
                <a:solidFill>
                  <a:srgbClr val="8A90A8"/>
                </a:solidFill>
                <a:latin typeface="Geist SemiBold" pitchFamily="34" charset="0"/>
                <a:ea typeface="Geist SemiBold" pitchFamily="34" charset="-122"/>
                <a:cs typeface="Geist SemiBold" pitchFamily="34" charset="-120"/>
              </a:rPr>
              <a:t>01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09585" y="2135088"/>
            <a:ext cx="1950592" cy="19050"/>
          </a:xfrm>
          <a:prstGeom prst="rect">
            <a:avLst/>
          </a:prstGeom>
          <a:solidFill>
            <a:srgbClr val="00E5FF"/>
          </a:solidFill>
          <a:ln/>
        </p:spPr>
      </p:sp>
      <p:sp>
        <p:nvSpPr>
          <p:cNvPr id="7" name="Text 5"/>
          <p:cNvSpPr/>
          <p:nvPr/>
        </p:nvSpPr>
        <p:spPr>
          <a:xfrm>
            <a:off x="609585" y="2268438"/>
            <a:ext cx="1950691" cy="2849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700" dirty="0">
                <a:solidFill>
                  <a:srgbClr val="E8EAF2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Environment Setup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609585" y="2696270"/>
            <a:ext cx="1950691" cy="7885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150" spc="11" kern="0" dirty="0">
                <a:solidFill>
                  <a:srgbClr val="8A90A8"/>
                </a:solidFill>
                <a:latin typeface="Fragment Mono" pitchFamily="34" charset="0"/>
                <a:ea typeface="Fragment Mono" pitchFamily="34" charset="-122"/>
                <a:cs typeface="Fragment Mono" pitchFamily="34" charset="-120"/>
              </a:rPr>
              <a:t>Configured Node.js, Express, Google Gen AI SDK, MongoDB, and dotenv.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2864969" y="1868388"/>
            <a:ext cx="861991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500" dirty="0">
                <a:solidFill>
                  <a:srgbClr val="8A90A8"/>
                </a:solidFill>
                <a:latin typeface="Geist SemiBold" pitchFamily="34" charset="0"/>
                <a:ea typeface="Geist SemiBold" pitchFamily="34" charset="-122"/>
                <a:cs typeface="Geist SemiBold" pitchFamily="34" charset="-120"/>
              </a:rPr>
              <a:t>02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2864969" y="2135088"/>
            <a:ext cx="1950592" cy="19050"/>
          </a:xfrm>
          <a:prstGeom prst="rect">
            <a:avLst/>
          </a:prstGeom>
          <a:solidFill>
            <a:srgbClr val="00E5FF"/>
          </a:solidFill>
          <a:ln/>
        </p:spPr>
      </p:sp>
      <p:sp>
        <p:nvSpPr>
          <p:cNvPr id="11" name="Text 9"/>
          <p:cNvSpPr/>
          <p:nvPr/>
        </p:nvSpPr>
        <p:spPr>
          <a:xfrm>
            <a:off x="2864969" y="2268438"/>
            <a:ext cx="1950691" cy="2849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700" dirty="0">
                <a:solidFill>
                  <a:srgbClr val="E8EAF2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Modularization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2864969" y="2696270"/>
            <a:ext cx="1950691" cy="7885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150" spc="11" kern="0" dirty="0">
                <a:solidFill>
                  <a:srgbClr val="8A90A8"/>
                </a:solidFill>
                <a:latin typeface="Fragment Mono" pitchFamily="34" charset="0"/>
                <a:ea typeface="Fragment Mono" pitchFamily="34" charset="-122"/>
                <a:cs typeface="Fragment Mono" pitchFamily="34" charset="-120"/>
              </a:rPr>
              <a:t>Isolated routes, controller handlers, prompt templates, and DB modules.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5120353" y="1868388"/>
            <a:ext cx="861098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500" dirty="0">
                <a:solidFill>
                  <a:srgbClr val="8A90A8"/>
                </a:solidFill>
                <a:latin typeface="Geist SemiBold" pitchFamily="34" charset="0"/>
                <a:ea typeface="Geist SemiBold" pitchFamily="34" charset="-122"/>
                <a:cs typeface="Geist SemiBold" pitchFamily="34" charset="-120"/>
              </a:rPr>
              <a:t>03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5120353" y="2135088"/>
            <a:ext cx="1950889" cy="19050"/>
          </a:xfrm>
          <a:prstGeom prst="rect">
            <a:avLst/>
          </a:prstGeom>
          <a:solidFill>
            <a:srgbClr val="00E5FF"/>
          </a:solidFill>
          <a:ln/>
        </p:spPr>
      </p:sp>
      <p:sp>
        <p:nvSpPr>
          <p:cNvPr id="15" name="Text 13"/>
          <p:cNvSpPr/>
          <p:nvPr/>
        </p:nvSpPr>
        <p:spPr>
          <a:xfrm>
            <a:off x="5120353" y="2268438"/>
            <a:ext cx="1950889" cy="2849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700" dirty="0">
                <a:solidFill>
                  <a:srgbClr val="E8EAF2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Logic &amp; Security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5120353" y="2696270"/>
            <a:ext cx="1950889" cy="9857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150" spc="11" kern="0" dirty="0">
                <a:solidFill>
                  <a:srgbClr val="8A90A8"/>
                </a:solidFill>
                <a:latin typeface="Fragment Mono" pitchFamily="34" charset="0"/>
                <a:ea typeface="Fragment Mono" pitchFamily="34" charset="-122"/>
                <a:cs typeface="Fragment Mono" pitchFamily="34" charset="-120"/>
              </a:rPr>
              <a:t>Refined prompt formatting and anchored secrets in environment variables.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7375936" y="1868388"/>
            <a:ext cx="861495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500" dirty="0">
                <a:solidFill>
                  <a:srgbClr val="8A90A8"/>
                </a:solidFill>
                <a:latin typeface="Geist SemiBold" pitchFamily="34" charset="0"/>
                <a:ea typeface="Geist SemiBold" pitchFamily="34" charset="-122"/>
                <a:cs typeface="Geist SemiBold" pitchFamily="34" charset="-120"/>
              </a:rPr>
              <a:t>04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7375936" y="2135088"/>
            <a:ext cx="1950592" cy="19050"/>
          </a:xfrm>
          <a:prstGeom prst="rect">
            <a:avLst/>
          </a:prstGeom>
          <a:solidFill>
            <a:srgbClr val="00E5FF"/>
          </a:solidFill>
          <a:ln/>
        </p:spPr>
      </p:sp>
      <p:sp>
        <p:nvSpPr>
          <p:cNvPr id="19" name="Text 17"/>
          <p:cNvSpPr/>
          <p:nvPr/>
        </p:nvSpPr>
        <p:spPr>
          <a:xfrm>
            <a:off x="7375936" y="2268438"/>
            <a:ext cx="1950691" cy="2849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700" dirty="0">
                <a:solidFill>
                  <a:srgbClr val="E8EAF2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Integration Testing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7375936" y="2696270"/>
            <a:ext cx="1950691" cy="9857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150" spc="11" kern="0" dirty="0">
                <a:solidFill>
                  <a:srgbClr val="8A90A8"/>
                </a:solidFill>
                <a:latin typeface="Fragment Mono" pitchFamily="34" charset="0"/>
                <a:ea typeface="Fragment Mono" pitchFamily="34" charset="-122"/>
                <a:cs typeface="Fragment Mono" pitchFamily="34" charset="-120"/>
              </a:rPr>
              <a:t>Spawned local server instances and validated transactions via Postman.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9631320" y="1868388"/>
            <a:ext cx="864670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500" dirty="0">
                <a:solidFill>
                  <a:srgbClr val="8A90A8"/>
                </a:solidFill>
                <a:latin typeface="Geist SemiBold" pitchFamily="34" charset="0"/>
                <a:ea typeface="Geist SemiBold" pitchFamily="34" charset="-122"/>
                <a:cs typeface="Geist SemiBold" pitchFamily="34" charset="-120"/>
              </a:rPr>
              <a:t>05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9631320" y="2135088"/>
            <a:ext cx="1950691" cy="19050"/>
          </a:xfrm>
          <a:prstGeom prst="rect">
            <a:avLst/>
          </a:prstGeom>
          <a:solidFill>
            <a:srgbClr val="00E5FF"/>
          </a:solidFill>
          <a:ln/>
        </p:spPr>
      </p:sp>
      <p:sp>
        <p:nvSpPr>
          <p:cNvPr id="23" name="Text 21"/>
          <p:cNvSpPr/>
          <p:nvPr/>
        </p:nvSpPr>
        <p:spPr>
          <a:xfrm>
            <a:off x="9631320" y="2268438"/>
            <a:ext cx="1950790" cy="2849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700" dirty="0">
                <a:solidFill>
                  <a:srgbClr val="E8EAF2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Hardening &amp; Docs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9631320" y="2696270"/>
            <a:ext cx="1950790" cy="7885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150" spc="11" kern="0" dirty="0">
                <a:solidFill>
                  <a:srgbClr val="8A90A8"/>
                </a:solidFill>
                <a:latin typeface="Fragment Mono" pitchFamily="34" charset="0"/>
                <a:ea typeface="Fragment Mono" pitchFamily="34" charset="-122"/>
                <a:cs typeface="Fragment Mono" pitchFamily="34" charset="-120"/>
              </a:rPr>
              <a:t>Enhanced error handlers, drafted recovery logic, and completed API docs.</a:t>
            </a:r>
            <a:endParaRPr lang="en-US" sz="1150" dirty="0"/>
          </a:p>
        </p:txBody>
      </p:sp>
      <p:pic>
        <p:nvPicPr>
          <p:cNvPr id="2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585" y="3859808"/>
            <a:ext cx="1919041" cy="1079401"/>
          </a:xfrm>
          <a:prstGeom prst="rect">
            <a:avLst/>
          </a:prstGeom>
        </p:spPr>
      </p:pic>
      <p:sp>
        <p:nvSpPr>
          <p:cNvPr id="26" name="Shape 23"/>
          <p:cNvSpPr/>
          <p:nvPr/>
        </p:nvSpPr>
        <p:spPr>
          <a:xfrm>
            <a:off x="609585" y="5598517"/>
            <a:ext cx="10972526" cy="31651"/>
          </a:xfrm>
          <a:prstGeom prst="roundRect">
            <a:avLst>
              <a:gd name="adj" fmla="val 49998"/>
            </a:avLst>
          </a:prstGeom>
          <a:solidFill>
            <a:srgbClr val="454B68"/>
          </a:solidFill>
          <a:ln/>
        </p:spPr>
      </p:sp>
      <p:sp>
        <p:nvSpPr>
          <p:cNvPr id="27" name="Text 24"/>
          <p:cNvSpPr/>
          <p:nvPr/>
        </p:nvSpPr>
        <p:spPr>
          <a:xfrm>
            <a:off x="609585" y="5854105"/>
            <a:ext cx="10972526" cy="3942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150" spc="11" kern="0" dirty="0">
                <a:solidFill>
                  <a:srgbClr val="8A90A8"/>
                </a:solidFill>
                <a:latin typeface="Fragment Mono" pitchFamily="34" charset="0"/>
                <a:ea typeface="Fragment Mono" pitchFamily="34" charset="-122"/>
                <a:cs typeface="Fragment Mono" pitchFamily="34" charset="-120"/>
              </a:rPr>
              <a:t>Milestone progression: decoupling prompt construction from controller routes ensured model parameters could be tuned without risking network stability.</a:t>
            </a:r>
            <a:endParaRPr lang="en-US" sz="1150" dirty="0"/>
          </a:p>
        </p:txBody>
      </p:sp>
      <p:sp>
        <p:nvSpPr>
          <p:cNvPr id="28" name="Text 25"/>
          <p:cNvSpPr/>
          <p:nvPr/>
        </p:nvSpPr>
        <p:spPr>
          <a:xfrm>
            <a:off x="11406597" y="6456561"/>
            <a:ext cx="785098" cy="19327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050" spc="42" kern="0" dirty="0">
                <a:solidFill>
                  <a:srgbClr val="C9CCDA"/>
                </a:solidFill>
                <a:latin typeface="Fragment Mono" pitchFamily="34" charset="0"/>
                <a:ea typeface="Fragment Mono" pitchFamily="34" charset="-122"/>
                <a:cs typeface="Fragment Mono" pitchFamily="34" charset="-120"/>
              </a:rPr>
              <a:t>06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09600"/>
            <a:ext cx="11582110" cy="1885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00" spc="66" kern="0" dirty="0">
                <a:solidFill>
                  <a:srgbClr val="A9AEC4"/>
                </a:solidFill>
                <a:latin typeface="Fragment Mono" pitchFamily="34" charset="0"/>
                <a:ea typeface="Fragment Mono" pitchFamily="34" charset="-122"/>
                <a:cs typeface="Fragment Mono" pitchFamily="34" charset="-120"/>
              </a:rPr>
              <a:t>RESILIENCE &amp; FAULT TOLERANCE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09585" y="877491"/>
            <a:ext cx="10972526" cy="419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3000" spc="-45" kern="0" dirty="0">
                <a:solidFill>
                  <a:srgbClr val="E8EAF2"/>
                </a:solidFill>
                <a:latin typeface="Geist Light" pitchFamily="34" charset="0"/>
                <a:ea typeface="Geist Light" pitchFamily="34" charset="-122"/>
                <a:cs typeface="Geist Light" pitchFamily="34" charset="-120"/>
              </a:rPr>
              <a:t>Good API behavior includes failure paths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09585" y="1493441"/>
            <a:ext cx="11582110" cy="1971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150" spc="11" kern="0" dirty="0">
                <a:solidFill>
                  <a:srgbClr val="8A90A8"/>
                </a:solidFill>
                <a:latin typeface="Fragment Mono" pitchFamily="34" charset="0"/>
                <a:ea typeface="Fragment Mono" pitchFamily="34" charset="-122"/>
                <a:cs typeface="Fragment Mono" pitchFamily="34" charset="-120"/>
              </a:rPr>
              <a:t>Predictable HTTP status mapping prevents technical data leaks while keeping client integrations stable.</a:t>
            </a:r>
            <a:endParaRPr lang="en-US" sz="115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09585" y="1817588"/>
          <a:ext cx="9143771" cy="914400"/>
        </p:xfrm>
        <a:graphic>
          <a:graphicData uri="http://schemas.openxmlformats.org/drawingml/2006/table">
            <a:tbl>
              <a:tblPr/>
              <a:tblGrid>
                <a:gridCol w="1975055"/>
                <a:gridCol w="2633406"/>
                <a:gridCol w="3291758"/>
                <a:gridCol w="3072307"/>
              </a:tblGrid>
              <a:tr h="51116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E8EAF2"/>
                          </a:solidFill>
                          <a:latin typeface="Geist" pitchFamily="34" charset="0"/>
                          <a:ea typeface="Geist" pitchFamily="34" charset="-122"/>
                          <a:cs typeface="Geist" pitchFamily="34" charset="-120"/>
                        </a:rPr>
                        <a:t>Status Code</a:t>
                      </a:r>
                      <a:endParaRPr lang="en-US" sz="1500" dirty="0">
                        <a:latin typeface="Geist" charset="0"/>
                        <a:ea typeface="Geist" charset="0"/>
                        <a:cs typeface="Geist" charset="0"/>
                      </a:endParaRPr>
                    </a:p>
                  </a:txBody>
                  <a:tcPr marL="177796" marR="177796" marT="114297" marB="114297" anchor="ctr">
                    <a:lnL w="12700" cap="flat" cmpd="sng" algn="ctr">
                      <a:solidFill>
                        <a:srgbClr val="0B0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0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0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54B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E8EAF2"/>
                          </a:solidFill>
                          <a:latin typeface="Geist" pitchFamily="34" charset="0"/>
                          <a:ea typeface="Geist" pitchFamily="34" charset="-122"/>
                          <a:cs typeface="Geist" pitchFamily="34" charset="-120"/>
                        </a:rPr>
                        <a:t>Error Classification</a:t>
                      </a:r>
                      <a:endParaRPr lang="en-US" sz="1500" dirty="0">
                        <a:latin typeface="Geist" charset="0"/>
                        <a:ea typeface="Geist" charset="0"/>
                        <a:cs typeface="Geist" charset="0"/>
                      </a:endParaRPr>
                    </a:p>
                  </a:txBody>
                  <a:tcPr marL="177796" marR="177796" marT="114297" marB="114297" anchor="ctr">
                    <a:lnL w="12700" cap="flat" cmpd="sng" algn="ctr">
                      <a:solidFill>
                        <a:srgbClr val="0B0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0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0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54B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E8EAF2"/>
                          </a:solidFill>
                          <a:latin typeface="Geist" pitchFamily="34" charset="0"/>
                          <a:ea typeface="Geist" pitchFamily="34" charset="-122"/>
                          <a:cs typeface="Geist" pitchFamily="34" charset="-120"/>
                        </a:rPr>
                        <a:t>Trigger Condition</a:t>
                      </a:r>
                      <a:endParaRPr lang="en-US" sz="1500" dirty="0">
                        <a:latin typeface="Geist" charset="0"/>
                        <a:ea typeface="Geist" charset="0"/>
                        <a:cs typeface="Geist" charset="0"/>
                      </a:endParaRPr>
                    </a:p>
                  </a:txBody>
                  <a:tcPr marL="177796" marR="177796" marT="114297" marB="114297" anchor="ctr">
                    <a:lnL w="12700" cap="flat" cmpd="sng" algn="ctr">
                      <a:solidFill>
                        <a:srgbClr val="0B0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0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0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54B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E8EAF2"/>
                          </a:solidFill>
                          <a:latin typeface="Geist" pitchFamily="34" charset="0"/>
                          <a:ea typeface="Geist" pitchFamily="34" charset="-122"/>
                          <a:cs typeface="Geist" pitchFamily="34" charset="-120"/>
                        </a:rPr>
                        <a:t>Mitigation / Client Contract</a:t>
                      </a:r>
                      <a:endParaRPr lang="en-US" sz="1500" dirty="0">
                        <a:latin typeface="Geist" charset="0"/>
                        <a:ea typeface="Geist" charset="0"/>
                        <a:cs typeface="Geist" charset="0"/>
                      </a:endParaRPr>
                    </a:p>
                  </a:txBody>
                  <a:tcPr marL="177796" marR="177796" marT="114297" marB="114297" anchor="ctr">
                    <a:lnL w="12700" cap="flat" cmpd="sng" algn="ctr">
                      <a:solidFill>
                        <a:srgbClr val="0B0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0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0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54B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873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C9CCD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400</a:t>
                      </a:r>
                      <a:endParaRPr lang="en-US" sz="15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77796" marR="177796" marT="114297" marB="114297" anchor="ctr">
                    <a:lnL w="12700" cap="flat" cmpd="sng" algn="ctr">
                      <a:solidFill>
                        <a:srgbClr val="0B0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0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54B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54B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C9CCDA"/>
                          </a:solidFill>
                          <a:latin typeface="Geist" pitchFamily="34" charset="0"/>
                          <a:ea typeface="Geist" pitchFamily="34" charset="-122"/>
                          <a:cs typeface="Geist" pitchFamily="34" charset="-120"/>
                        </a:rPr>
                        <a:t>Bad Request</a:t>
                      </a:r>
                      <a:endParaRPr lang="en-US" sz="1500" dirty="0">
                        <a:latin typeface="Geist" charset="0"/>
                        <a:ea typeface="Geist" charset="0"/>
                        <a:cs typeface="Geist" charset="0"/>
                      </a:endParaRPr>
                    </a:p>
                  </a:txBody>
                  <a:tcPr marL="177796" marR="177796" marT="114297" marB="114297" anchor="ctr">
                    <a:lnL w="12700" cap="flat" cmpd="sng" algn="ctr">
                      <a:solidFill>
                        <a:srgbClr val="0B0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0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54B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54B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C9CCDA"/>
                          </a:solidFill>
                          <a:latin typeface="Geist" pitchFamily="34" charset="0"/>
                          <a:ea typeface="Geist" pitchFamily="34" charset="-122"/>
                          <a:cs typeface="Geist" pitchFamily="34" charset="-120"/>
                        </a:rPr>
                        <a:t>Missing, invalid or out-of-range weather data.</a:t>
                      </a:r>
                      <a:endParaRPr lang="en-US" sz="1500" dirty="0">
                        <a:latin typeface="Geist" charset="0"/>
                        <a:ea typeface="Geist" charset="0"/>
                        <a:cs typeface="Geist" charset="0"/>
                      </a:endParaRPr>
                    </a:p>
                  </a:txBody>
                  <a:tcPr marL="177796" marR="177796" marT="114297" marB="114297" anchor="ctr">
                    <a:lnL w="12700" cap="flat" cmpd="sng" algn="ctr">
                      <a:solidFill>
                        <a:srgbClr val="0B0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0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54B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54B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C9CCDA"/>
                          </a:solidFill>
                          <a:latin typeface="Geist" pitchFamily="34" charset="0"/>
                          <a:ea typeface="Geist" pitchFamily="34" charset="-122"/>
                          <a:cs typeface="Geist" pitchFamily="34" charset="-120"/>
                        </a:rPr>
                        <a:t>Reject invalid input.</a:t>
                      </a:r>
                      <a:endParaRPr lang="en-US" sz="1500" dirty="0">
                        <a:latin typeface="Geist" charset="0"/>
                        <a:ea typeface="Geist" charset="0"/>
                        <a:cs typeface="Geist" charset="0"/>
                      </a:endParaRPr>
                    </a:p>
                  </a:txBody>
                  <a:tcPr marL="177796" marR="177796" marT="114297" marB="114297" anchor="ctr">
                    <a:lnL w="12700" cap="flat" cmpd="sng" algn="ctr">
                      <a:solidFill>
                        <a:srgbClr val="0B0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0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54B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54B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75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C9CCD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500</a:t>
                      </a:r>
                      <a:endParaRPr lang="en-US" sz="15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77796" marR="177796" marT="114297" marB="114297" anchor="ctr">
                    <a:lnL w="12700" cap="flat" cmpd="sng" algn="ctr">
                      <a:solidFill>
                        <a:srgbClr val="0B0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0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54B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54B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C9CCDA"/>
                          </a:solidFill>
                          <a:latin typeface="Geist" pitchFamily="34" charset="0"/>
                          <a:ea typeface="Geist" pitchFamily="34" charset="-122"/>
                          <a:cs typeface="Geist" pitchFamily="34" charset="-120"/>
                        </a:rPr>
                        <a:t>Internal Server Error</a:t>
                      </a:r>
                      <a:endParaRPr lang="en-US" sz="1500" dirty="0">
                        <a:latin typeface="Geist" charset="0"/>
                        <a:ea typeface="Geist" charset="0"/>
                        <a:cs typeface="Geist" charset="0"/>
                      </a:endParaRPr>
                    </a:p>
                  </a:txBody>
                  <a:tcPr marL="177796" marR="177796" marT="114297" marB="114297" anchor="ctr">
                    <a:lnL w="12700" cap="flat" cmpd="sng" algn="ctr">
                      <a:solidFill>
                        <a:srgbClr val="0B0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0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54B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54B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C9CCDA"/>
                          </a:solidFill>
                          <a:latin typeface="Geist" pitchFamily="34" charset="0"/>
                          <a:ea typeface="Geist" pitchFamily="34" charset="-122"/>
                          <a:cs typeface="Geist" pitchFamily="34" charset="-120"/>
                        </a:rPr>
                        <a:t>Unexpected server problems.</a:t>
                      </a:r>
                      <a:endParaRPr lang="en-US" sz="1500" dirty="0">
                        <a:latin typeface="Geist" charset="0"/>
                        <a:ea typeface="Geist" charset="0"/>
                        <a:cs typeface="Geist" charset="0"/>
                      </a:endParaRPr>
                    </a:p>
                  </a:txBody>
                  <a:tcPr marL="177796" marR="177796" marT="114297" marB="114297" anchor="ctr">
                    <a:lnL w="12700" cap="flat" cmpd="sng" algn="ctr">
                      <a:solidFill>
                        <a:srgbClr val="0B0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0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54B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54B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C9CCDA"/>
                          </a:solidFill>
                          <a:latin typeface="Geist" pitchFamily="34" charset="0"/>
                          <a:ea typeface="Geist" pitchFamily="34" charset="-122"/>
                          <a:cs typeface="Geist" pitchFamily="34" charset="-120"/>
                        </a:rPr>
                        <a:t>Logs support debugging.</a:t>
                      </a:r>
                      <a:endParaRPr lang="en-US" sz="1500" dirty="0">
                        <a:latin typeface="Geist" charset="0"/>
                        <a:ea typeface="Geist" charset="0"/>
                        <a:cs typeface="Geist" charset="0"/>
                      </a:endParaRPr>
                    </a:p>
                  </a:txBody>
                  <a:tcPr marL="177796" marR="177796" marT="114297" marB="114297" anchor="ctr">
                    <a:lnL w="12700" cap="flat" cmpd="sng" algn="ctr">
                      <a:solidFill>
                        <a:srgbClr val="0B0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0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54B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54B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116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C9CCD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503</a:t>
                      </a:r>
                      <a:endParaRPr lang="en-US" sz="15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77796" marR="177796" marT="114297" marB="114297" anchor="ctr">
                    <a:lnL w="12700" cap="flat" cmpd="sng" algn="ctr">
                      <a:solidFill>
                        <a:srgbClr val="0B0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0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54B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0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C9CCDA"/>
                          </a:solidFill>
                          <a:latin typeface="Geist" pitchFamily="34" charset="0"/>
                          <a:ea typeface="Geist" pitchFamily="34" charset="-122"/>
                          <a:cs typeface="Geist" pitchFamily="34" charset="-120"/>
                        </a:rPr>
                        <a:t>Service Unavailable</a:t>
                      </a:r>
                      <a:endParaRPr lang="en-US" sz="1500" dirty="0">
                        <a:latin typeface="Geist" charset="0"/>
                        <a:ea typeface="Geist" charset="0"/>
                        <a:cs typeface="Geist" charset="0"/>
                      </a:endParaRPr>
                    </a:p>
                  </a:txBody>
                  <a:tcPr marL="177796" marR="177796" marT="114297" marB="114297" anchor="ctr">
                    <a:lnL w="12700" cap="flat" cmpd="sng" algn="ctr">
                      <a:solidFill>
                        <a:srgbClr val="0B0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0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54B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0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C9CCDA"/>
                          </a:solidFill>
                          <a:latin typeface="Geist" pitchFamily="34" charset="0"/>
                          <a:ea typeface="Geist" pitchFamily="34" charset="-122"/>
                          <a:cs typeface="Geist" pitchFamily="34" charset="-120"/>
                        </a:rPr>
                        <a:t>Gemini cannot respond.</a:t>
                      </a:r>
                      <a:endParaRPr lang="en-US" sz="1500" dirty="0">
                        <a:latin typeface="Geist" charset="0"/>
                        <a:ea typeface="Geist" charset="0"/>
                        <a:cs typeface="Geist" charset="0"/>
                      </a:endParaRPr>
                    </a:p>
                  </a:txBody>
                  <a:tcPr marL="177796" marR="177796" marT="114297" marB="114297" anchor="ctr">
                    <a:lnL w="12700" cap="flat" cmpd="sng" algn="ctr">
                      <a:solidFill>
                        <a:srgbClr val="0B0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0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54B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0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C9CCDA"/>
                          </a:solidFill>
                          <a:latin typeface="Geist" pitchFamily="34" charset="0"/>
                          <a:ea typeface="Geist" pitchFamily="34" charset="-122"/>
                          <a:cs typeface="Geist" pitchFamily="34" charset="-120"/>
                        </a:rPr>
                        <a:t>Provide backup advice.</a:t>
                      </a:r>
                      <a:endParaRPr lang="en-US" sz="1500" dirty="0">
                        <a:latin typeface="Geist" charset="0"/>
                        <a:ea typeface="Geist" charset="0"/>
                        <a:cs typeface="Geist" charset="0"/>
                      </a:endParaRPr>
                    </a:p>
                  </a:txBody>
                  <a:tcPr marL="177796" marR="177796" marT="114297" marB="114297" anchor="ctr">
                    <a:lnL w="12700" cap="flat" cmpd="sng" algn="ctr">
                      <a:solidFill>
                        <a:srgbClr val="0B0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0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54B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0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585" y="4322663"/>
            <a:ext cx="1806133" cy="1015901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609585" y="5795665"/>
            <a:ext cx="10972526" cy="31651"/>
          </a:xfrm>
          <a:prstGeom prst="roundRect">
            <a:avLst>
              <a:gd name="adj" fmla="val 49998"/>
            </a:avLst>
          </a:prstGeom>
          <a:solidFill>
            <a:srgbClr val="454B68"/>
          </a:solidFill>
          <a:ln/>
        </p:spPr>
      </p:sp>
      <p:sp>
        <p:nvSpPr>
          <p:cNvPr id="8" name="Text 4"/>
          <p:cNvSpPr/>
          <p:nvPr/>
        </p:nvSpPr>
        <p:spPr>
          <a:xfrm>
            <a:off x="609585" y="6051252"/>
            <a:ext cx="11582110" cy="1971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150" spc="11" kern="0" dirty="0">
                <a:solidFill>
                  <a:srgbClr val="8A90A8"/>
                </a:solidFill>
                <a:latin typeface="Fragment Mono" pitchFamily="34" charset="0"/>
                <a:ea typeface="Fragment Mono" pitchFamily="34" charset="-122"/>
                <a:cs typeface="Fragment Mono" pitchFamily="34" charset="-120"/>
              </a:rPr>
              <a:t>Timeouts, logs and backup advice help the service fail clearly without exposing technical details.</a:t>
            </a:r>
            <a:endParaRPr lang="en-US" sz="1150" dirty="0"/>
          </a:p>
        </p:txBody>
      </p:sp>
      <p:sp>
        <p:nvSpPr>
          <p:cNvPr id="9" name="Text 5"/>
          <p:cNvSpPr/>
          <p:nvPr/>
        </p:nvSpPr>
        <p:spPr>
          <a:xfrm>
            <a:off x="11406597" y="6456561"/>
            <a:ext cx="785098" cy="19327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050" spc="42" kern="0" dirty="0">
                <a:solidFill>
                  <a:srgbClr val="C9CCDA"/>
                </a:solidFill>
                <a:latin typeface="Fragment Mono" pitchFamily="34" charset="0"/>
                <a:ea typeface="Fragment Mono" pitchFamily="34" charset="-122"/>
                <a:cs typeface="Fragment Mono" pitchFamily="34" charset="-120"/>
              </a:rPr>
              <a:t>07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09600"/>
            <a:ext cx="11582110" cy="1885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00" spc="66" kern="0" dirty="0">
                <a:solidFill>
                  <a:srgbClr val="A9AEC4"/>
                </a:solidFill>
                <a:latin typeface="Fragment Mono" pitchFamily="34" charset="0"/>
                <a:ea typeface="Fragment Mono" pitchFamily="34" charset="-122"/>
                <a:cs typeface="Fragment Mono" pitchFamily="34" charset="-120"/>
              </a:rPr>
              <a:t>DATA GOVERNANCE &amp; SECRET DEFENSE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09585" y="877491"/>
            <a:ext cx="10972526" cy="419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3000" spc="-45" kern="0" dirty="0">
                <a:solidFill>
                  <a:srgbClr val="E8EAF2"/>
                </a:solidFill>
                <a:latin typeface="Geist Light" pitchFamily="34" charset="0"/>
                <a:ea typeface="Geist Light" pitchFamily="34" charset="-122"/>
                <a:cs typeface="Geist Light" pitchFamily="34" charset="-120"/>
              </a:rPr>
              <a:t>Privacy is part of the architecture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09585" y="1493441"/>
            <a:ext cx="11582110" cy="1971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150" spc="11" kern="0" dirty="0">
                <a:solidFill>
                  <a:srgbClr val="8A90A8"/>
                </a:solidFill>
                <a:latin typeface="Fragment Mono" pitchFamily="34" charset="0"/>
                <a:ea typeface="Fragment Mono" pitchFamily="34" charset="-122"/>
                <a:cs typeface="Fragment Mono" pitchFamily="34" charset="-120"/>
              </a:rPr>
              <a:t>Strict boundaries ensure zero credential leakage and prevent prompt injection from compromising persistence layers.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609585" y="1842988"/>
            <a:ext cx="3454314" cy="3148211"/>
          </a:xfrm>
          <a:prstGeom prst="roundRect">
            <a:avLst>
              <a:gd name="adj" fmla="val 363"/>
            </a:avLst>
          </a:prstGeom>
          <a:solidFill>
            <a:srgbClr val="1B1D2A"/>
          </a:solidFill>
          <a:ln/>
        </p:spPr>
      </p:sp>
      <p:sp>
        <p:nvSpPr>
          <p:cNvPr id="6" name="Text 4"/>
          <p:cNvSpPr/>
          <p:nvPr/>
        </p:nvSpPr>
        <p:spPr>
          <a:xfrm>
            <a:off x="863578" y="2096988"/>
            <a:ext cx="3200320" cy="1885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00" spc="66" kern="0" dirty="0">
                <a:solidFill>
                  <a:srgbClr val="A9AEC4"/>
                </a:solidFill>
                <a:latin typeface="Fragment Mono" pitchFamily="34" charset="0"/>
                <a:ea typeface="Fragment Mono" pitchFamily="34" charset="-122"/>
                <a:cs typeface="Fragment Mono" pitchFamily="34" charset="-120"/>
              </a:rPr>
              <a:t>ISOLATION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63578" y="2364879"/>
            <a:ext cx="2946326" cy="3687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200" dirty="0">
                <a:solidFill>
                  <a:srgbClr val="E8EAF2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Environment Secrets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863578" y="2876550"/>
            <a:ext cx="2946326" cy="9636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300" dirty="0">
                <a:solidFill>
                  <a:srgbClr val="C9CCD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Gemini API credentials and MongoDB connection strings live strictly in root </a:t>
            </a:r>
            <a:pPr algn="l" indent="0" marL="0">
              <a:lnSpc>
                <a:spcPct val="121000"/>
              </a:lnSpc>
              <a:buNone/>
            </a:pPr>
            <a:r>
              <a:rPr lang="en-US" sz="1300" dirty="0">
                <a:solidFill>
                  <a:srgbClr val="C9CCDA"/>
                </a:solidFill>
                <a:highlight>
                  <a:srgbClr val="151829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.env</a:t>
            </a:r>
            <a:pPr algn="l" indent="0" marL="0">
              <a:lnSpc>
                <a:spcPct val="121000"/>
              </a:lnSpc>
              <a:buNone/>
            </a:pPr>
            <a:r>
              <a:rPr lang="en-US" sz="1300" dirty="0">
                <a:solidFill>
                  <a:srgbClr val="C9CCD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files, excluded from source control and invisible to client callers.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63578" y="3954463"/>
            <a:ext cx="3200320" cy="1971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150" spc="11" kern="0" dirty="0">
                <a:solidFill>
                  <a:srgbClr val="8A90A8"/>
                </a:solidFill>
                <a:latin typeface="Fragment Mono" pitchFamily="34" charset="0"/>
                <a:ea typeface="Fragment Mono" pitchFamily="34" charset="-122"/>
                <a:cs typeface="Fragment Mono" pitchFamily="34" charset="-120"/>
              </a:rPr>
              <a:t>Zero Credential Exposure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368691" y="1842988"/>
            <a:ext cx="3454314" cy="3148211"/>
          </a:xfrm>
          <a:prstGeom prst="roundRect">
            <a:avLst>
              <a:gd name="adj" fmla="val 363"/>
            </a:avLst>
          </a:prstGeom>
          <a:solidFill>
            <a:srgbClr val="1B1D2A"/>
          </a:solidFill>
          <a:ln/>
        </p:spPr>
      </p:sp>
      <p:sp>
        <p:nvSpPr>
          <p:cNvPr id="11" name="Text 9"/>
          <p:cNvSpPr/>
          <p:nvPr/>
        </p:nvSpPr>
        <p:spPr>
          <a:xfrm>
            <a:off x="4622684" y="2096988"/>
            <a:ext cx="3200320" cy="1885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00" spc="66" kern="0" dirty="0">
                <a:solidFill>
                  <a:srgbClr val="A9AEC4"/>
                </a:solidFill>
                <a:latin typeface="Fragment Mono" pitchFamily="34" charset="0"/>
                <a:ea typeface="Fragment Mono" pitchFamily="34" charset="-122"/>
                <a:cs typeface="Fragment Mono" pitchFamily="34" charset="-120"/>
              </a:rPr>
              <a:t>ABSTRACTION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622684" y="2364879"/>
            <a:ext cx="2946326" cy="3687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200" dirty="0">
                <a:solidFill>
                  <a:srgbClr val="E8EAF2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Prompt Concealment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622684" y="2876550"/>
            <a:ext cx="2946326" cy="9572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300" dirty="0">
                <a:solidFill>
                  <a:srgbClr val="C9CCD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System instructions, temperature framing, and safety guidelines stay internal to the server controller. Users receive only the finalized advice string.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622684" y="3948112"/>
            <a:ext cx="3200320" cy="1971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150" spc="11" kern="0" dirty="0">
                <a:solidFill>
                  <a:srgbClr val="8A90A8"/>
                </a:solidFill>
                <a:latin typeface="Fragment Mono" pitchFamily="34" charset="0"/>
                <a:ea typeface="Fragment Mono" pitchFamily="34" charset="-122"/>
                <a:cs typeface="Fragment Mono" pitchFamily="34" charset="-120"/>
              </a:rPr>
              <a:t>Encapsulated Logic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8127797" y="1842988"/>
            <a:ext cx="3454314" cy="3148211"/>
          </a:xfrm>
          <a:prstGeom prst="roundRect">
            <a:avLst>
              <a:gd name="adj" fmla="val 363"/>
            </a:avLst>
          </a:prstGeom>
          <a:solidFill>
            <a:srgbClr val="1B1D2A"/>
          </a:solidFill>
          <a:ln/>
        </p:spPr>
      </p:sp>
      <p:sp>
        <p:nvSpPr>
          <p:cNvPr id="16" name="Text 14"/>
          <p:cNvSpPr/>
          <p:nvPr/>
        </p:nvSpPr>
        <p:spPr>
          <a:xfrm>
            <a:off x="8381790" y="2096988"/>
            <a:ext cx="3200320" cy="1885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00" spc="66" kern="0" dirty="0">
                <a:solidFill>
                  <a:srgbClr val="A9AEC4"/>
                </a:solidFill>
                <a:latin typeface="Fragment Mono" pitchFamily="34" charset="0"/>
                <a:ea typeface="Fragment Mono" pitchFamily="34" charset="-122"/>
                <a:cs typeface="Fragment Mono" pitchFamily="34" charset="-120"/>
              </a:rPr>
              <a:t>AUDITABILITY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8381790" y="2364879"/>
            <a:ext cx="2946326" cy="3687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200" dirty="0">
                <a:solidFill>
                  <a:srgbClr val="E8EAF2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Isolated Logging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8381790" y="2876550"/>
            <a:ext cx="2946326" cy="11965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300" dirty="0">
                <a:solidFill>
                  <a:srgbClr val="C9CCD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Request records and recovery traces persist in MongoDB for system observability, stripped of client secrets and secured behind private server credentials.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381790" y="4187428"/>
            <a:ext cx="3200320" cy="1971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150" spc="11" kern="0" dirty="0">
                <a:solidFill>
                  <a:srgbClr val="8A90A8"/>
                </a:solidFill>
                <a:latin typeface="Fragment Mono" pitchFamily="34" charset="0"/>
                <a:ea typeface="Fragment Mono" pitchFamily="34" charset="-122"/>
                <a:cs typeface="Fragment Mono" pitchFamily="34" charset="-120"/>
              </a:rPr>
              <a:t>Durable Observability</a:t>
            </a:r>
            <a:endParaRPr lang="en-US" sz="1150" dirty="0"/>
          </a:p>
        </p:txBody>
      </p:sp>
      <p:pic>
        <p:nvPicPr>
          <p:cNvPr id="2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585" y="5168999"/>
            <a:ext cx="1919041" cy="1079401"/>
          </a:xfrm>
          <a:prstGeom prst="rect">
            <a:avLst/>
          </a:prstGeom>
        </p:spPr>
      </p:pic>
      <p:sp>
        <p:nvSpPr>
          <p:cNvPr id="21" name="Text 18"/>
          <p:cNvSpPr/>
          <p:nvPr/>
        </p:nvSpPr>
        <p:spPr>
          <a:xfrm>
            <a:off x="11406597" y="6456561"/>
            <a:ext cx="785098" cy="19327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050" spc="42" kern="0" dirty="0">
                <a:solidFill>
                  <a:srgbClr val="C9CCDA"/>
                </a:solidFill>
                <a:latin typeface="Fragment Mono" pitchFamily="34" charset="0"/>
                <a:ea typeface="Fragment Mono" pitchFamily="34" charset="-122"/>
                <a:cs typeface="Fragment Mono" pitchFamily="34" charset="-120"/>
              </a:rPr>
              <a:t>08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58786" y="355600"/>
            <a:ext cx="5943451" cy="1885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00" spc="66" kern="0" dirty="0">
                <a:solidFill>
                  <a:srgbClr val="A9AEC4"/>
                </a:solidFill>
                <a:latin typeface="Fragment Mono" pitchFamily="34" charset="0"/>
                <a:ea typeface="Fragment Mono" pitchFamily="34" charset="-122"/>
                <a:cs typeface="Fragment Mono" pitchFamily="34" charset="-120"/>
              </a:rPr>
              <a:t>INTEGRATION VERIFICATION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58786" y="623491"/>
            <a:ext cx="5638659" cy="419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3000" spc="-45" kern="0" dirty="0">
                <a:solidFill>
                  <a:srgbClr val="E8EAF2"/>
                </a:solidFill>
                <a:latin typeface="Geist Light" pitchFamily="34" charset="0"/>
                <a:ea typeface="Geist Light" pitchFamily="34" charset="-122"/>
                <a:cs typeface="Geist Light" pitchFamily="34" charset="-120"/>
              </a:rPr>
              <a:t>The first test proved the core loop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61981" y="1391841"/>
            <a:ext cx="2616135" cy="1885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00" spc="66" kern="0" dirty="0">
                <a:solidFill>
                  <a:srgbClr val="A9AEC4"/>
                </a:solidFill>
                <a:latin typeface="Fragment Mono" pitchFamily="34" charset="0"/>
                <a:ea typeface="Fragment Mono" pitchFamily="34" charset="-122"/>
                <a:cs typeface="Fragment Mono" pitchFamily="34" charset="-120"/>
              </a:rPr>
              <a:t>ENDPOINT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61981" y="1659731"/>
            <a:ext cx="2412940" cy="5826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700" dirty="0">
                <a:solidFill>
                  <a:srgbClr val="C9CCDA"/>
                </a:solidFill>
                <a:highlight>
                  <a:srgbClr val="151829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POST /weather-recommendation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3581310" y="1391841"/>
            <a:ext cx="2616135" cy="1885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00" spc="66" kern="0" dirty="0">
                <a:solidFill>
                  <a:srgbClr val="A9AEC4"/>
                </a:solidFill>
                <a:latin typeface="Fragment Mono" pitchFamily="34" charset="0"/>
                <a:ea typeface="Fragment Mono" pitchFamily="34" charset="-122"/>
                <a:cs typeface="Fragment Mono" pitchFamily="34" charset="-120"/>
              </a:rPr>
              <a:t>INPUT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581310" y="1694656"/>
            <a:ext cx="2412940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500" dirty="0">
                <a:solidFill>
                  <a:srgbClr val="C9CCD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Temperature 18°C, condition “clear”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61981" y="2551906"/>
            <a:ext cx="2616135" cy="1885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00" spc="66" kern="0" dirty="0">
                <a:solidFill>
                  <a:srgbClr val="A9AEC4"/>
                </a:solidFill>
                <a:latin typeface="Fragment Mono" pitchFamily="34" charset="0"/>
                <a:ea typeface="Fragment Mono" pitchFamily="34" charset="-122"/>
                <a:cs typeface="Fragment Mono" pitchFamily="34" charset="-120"/>
              </a:rPr>
              <a:t>RESULT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61981" y="2819797"/>
            <a:ext cx="2412940" cy="2849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700" dirty="0">
                <a:solidFill>
                  <a:srgbClr val="00E5FF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HTTP 200 OK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3581310" y="2551906"/>
            <a:ext cx="2616135" cy="1885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00" spc="66" kern="0" dirty="0">
                <a:solidFill>
                  <a:srgbClr val="A9AEC4"/>
                </a:solidFill>
                <a:latin typeface="Fragment Mono" pitchFamily="34" charset="0"/>
                <a:ea typeface="Fragment Mono" pitchFamily="34" charset="-122"/>
                <a:cs typeface="Fragment Mono" pitchFamily="34" charset="-120"/>
              </a:rPr>
              <a:t>ADVICE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581310" y="2854722"/>
            <a:ext cx="2412940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500" dirty="0">
                <a:solidFill>
                  <a:srgbClr val="C9CCD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Outdoor and clothing suggestions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558786" y="6108105"/>
            <a:ext cx="5638659" cy="3942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150" spc="11" kern="0" dirty="0">
                <a:solidFill>
                  <a:srgbClr val="8A90A8"/>
                </a:solidFill>
                <a:latin typeface="Fragment Mono" pitchFamily="34" charset="0"/>
                <a:ea typeface="Fragment Mono" pitchFamily="34" charset="-122"/>
                <a:cs typeface="Fragment Mono" pitchFamily="34" charset="-120"/>
              </a:rPr>
              <a:t>The example confirmed that the Node.js service and Gemini worked together for a structured request.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654634" y="1784648"/>
            <a:ext cx="4978275" cy="2716609"/>
          </a:xfrm>
          <a:prstGeom prst="rect">
            <a:avLst/>
          </a:prstGeom>
          <a:noFill/>
          <a:ln w="6350">
            <a:solidFill>
              <a:srgbClr val="454B68"/>
            </a:solidFill>
            <a:prstDash val="solid"/>
          </a:ln>
        </p:spPr>
      </p:sp>
      <p:pic>
        <p:nvPicPr>
          <p:cNvPr id="1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60983" y="1790998"/>
            <a:ext cx="4965576" cy="2703909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6654634" y="4679057"/>
            <a:ext cx="4978275" cy="3942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150" spc="11" kern="0" dirty="0">
                <a:solidFill>
                  <a:srgbClr val="8A90A8"/>
                </a:solidFill>
                <a:latin typeface="Fragment Mono" pitchFamily="34" charset="0"/>
                <a:ea typeface="Fragment Mono" pitchFamily="34" charset="-122"/>
                <a:cs typeface="Fragment Mono" pitchFamily="34" charset="-120"/>
              </a:rPr>
              <a:t>Fig 2. Postman test run confirming structured JSON response generation.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3371766" y="1239441"/>
            <a:ext cx="12700" cy="1160066"/>
          </a:xfrm>
          <a:prstGeom prst="rect">
            <a:avLst/>
          </a:prstGeom>
          <a:solidFill>
            <a:srgbClr val="454B68"/>
          </a:solidFill>
          <a:ln/>
        </p:spPr>
      </p:sp>
      <p:sp>
        <p:nvSpPr>
          <p:cNvPr id="17" name="Shape 14"/>
          <p:cNvSpPr/>
          <p:nvPr/>
        </p:nvSpPr>
        <p:spPr>
          <a:xfrm>
            <a:off x="558786" y="2393156"/>
            <a:ext cx="2819329" cy="12700"/>
          </a:xfrm>
          <a:prstGeom prst="rect">
            <a:avLst/>
          </a:prstGeom>
          <a:solidFill>
            <a:srgbClr val="454B68"/>
          </a:solidFill>
          <a:ln/>
        </p:spPr>
      </p:sp>
      <p:sp>
        <p:nvSpPr>
          <p:cNvPr id="18" name="Shape 15"/>
          <p:cNvSpPr/>
          <p:nvPr/>
        </p:nvSpPr>
        <p:spPr>
          <a:xfrm>
            <a:off x="3371766" y="2399506"/>
            <a:ext cx="12700" cy="1160066"/>
          </a:xfrm>
          <a:prstGeom prst="rect">
            <a:avLst/>
          </a:prstGeom>
          <a:solidFill>
            <a:srgbClr val="454B68"/>
          </a:solidFill>
          <a:ln/>
        </p:spPr>
      </p:sp>
      <p:sp>
        <p:nvSpPr>
          <p:cNvPr id="19" name="Shape 16"/>
          <p:cNvSpPr/>
          <p:nvPr/>
        </p:nvSpPr>
        <p:spPr>
          <a:xfrm>
            <a:off x="3378115" y="2393156"/>
            <a:ext cx="2819329" cy="12700"/>
          </a:xfrm>
          <a:prstGeom prst="rect">
            <a:avLst/>
          </a:prstGeom>
          <a:solidFill>
            <a:srgbClr val="454B68"/>
          </a:solidFill>
          <a:ln/>
        </p:spPr>
      </p:sp>
      <p:sp>
        <p:nvSpPr>
          <p:cNvPr id="20" name="Text 17"/>
          <p:cNvSpPr/>
          <p:nvPr/>
        </p:nvSpPr>
        <p:spPr>
          <a:xfrm>
            <a:off x="11406597" y="6456561"/>
            <a:ext cx="785098" cy="19327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050" spc="42" kern="0" dirty="0">
                <a:solidFill>
                  <a:srgbClr val="C9CCDA"/>
                </a:solidFill>
                <a:latin typeface="Fragment Mono" pitchFamily="34" charset="0"/>
                <a:ea typeface="Fragment Mono" pitchFamily="34" charset="-122"/>
                <a:cs typeface="Fragment Mono" pitchFamily="34" charset="-120"/>
              </a:rPr>
              <a:t>09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09600"/>
            <a:ext cx="11582110" cy="1803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050" spc="63" kern="0" dirty="0">
                <a:solidFill>
                  <a:srgbClr val="A9AEC4"/>
                </a:solidFill>
                <a:latin typeface="Fragment Mono" pitchFamily="34" charset="0"/>
                <a:ea typeface="Fragment Mono" pitchFamily="34" charset="-122"/>
                <a:cs typeface="Fragment Mono" pitchFamily="34" charset="-120"/>
              </a:rPr>
              <a:t>VERIFIED CAPABILITIES &amp; ROADMAP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09585" y="862608"/>
            <a:ext cx="10972526" cy="4009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2850" spc="-43" kern="0" dirty="0">
                <a:solidFill>
                  <a:srgbClr val="E8EAF2"/>
                </a:solidFill>
                <a:latin typeface="Geist Light" pitchFamily="34" charset="0"/>
                <a:ea typeface="Geist Light" pitchFamily="34" charset="-122"/>
                <a:cs typeface="Geist Light" pitchFamily="34" charset="-120"/>
              </a:rPr>
              <a:t>What the current version can and cannot claim</a:t>
            </a:r>
            <a:endParaRPr lang="en-US" sz="2850" dirty="0"/>
          </a:p>
        </p:txBody>
      </p:sp>
      <p:sp>
        <p:nvSpPr>
          <p:cNvPr id="4" name="Text 2"/>
          <p:cNvSpPr/>
          <p:nvPr/>
        </p:nvSpPr>
        <p:spPr>
          <a:xfrm>
            <a:off x="609585" y="1443732"/>
            <a:ext cx="11582110" cy="1885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00" spc="11" kern="0" dirty="0">
                <a:solidFill>
                  <a:srgbClr val="8A90A8"/>
                </a:solidFill>
                <a:latin typeface="Fragment Mono" pitchFamily="34" charset="0"/>
                <a:ea typeface="Fragment Mono" pitchFamily="34" charset="-122"/>
                <a:cs typeface="Fragment Mono" pitchFamily="34" charset="-120"/>
              </a:rPr>
              <a:t>Clear distinction between proven production behaviors and necessary future validation milestones.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09585" y="1794966"/>
            <a:ext cx="3454314" cy="4184352"/>
          </a:xfrm>
          <a:prstGeom prst="roundRect">
            <a:avLst>
              <a:gd name="adj" fmla="val 331"/>
            </a:avLst>
          </a:prstGeom>
          <a:solidFill>
            <a:srgbClr val="1B1D2A"/>
          </a:solidFill>
          <a:ln/>
        </p:spPr>
      </p:sp>
      <p:sp>
        <p:nvSpPr>
          <p:cNvPr id="6" name="Text 4"/>
          <p:cNvSpPr/>
          <p:nvPr/>
        </p:nvSpPr>
        <p:spPr>
          <a:xfrm>
            <a:off x="863578" y="2048966"/>
            <a:ext cx="3200320" cy="1803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050" spc="63" kern="0" dirty="0">
                <a:solidFill>
                  <a:srgbClr val="A9AEC4"/>
                </a:solidFill>
                <a:latin typeface="Fragment Mono" pitchFamily="34" charset="0"/>
                <a:ea typeface="Fragment Mono" pitchFamily="34" charset="-122"/>
                <a:cs typeface="Fragment Mono" pitchFamily="34" charset="-120"/>
              </a:rPr>
              <a:t>VERIFIED IN CURRENT BUILD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863578" y="2301974"/>
            <a:ext cx="2946326" cy="3529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100" dirty="0">
                <a:solidFill>
                  <a:srgbClr val="E8EAF2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Working Capabilities</a:t>
            </a:r>
            <a:endParaRPr lang="en-US" sz="2100" dirty="0"/>
          </a:p>
        </p:txBody>
      </p:sp>
      <p:sp>
        <p:nvSpPr>
          <p:cNvPr id="8" name="Shape 6"/>
          <p:cNvSpPr/>
          <p:nvPr/>
        </p:nvSpPr>
        <p:spPr>
          <a:xfrm>
            <a:off x="863578" y="2831207"/>
            <a:ext cx="2946227" cy="19050"/>
          </a:xfrm>
          <a:prstGeom prst="roundRect">
            <a:avLst>
              <a:gd name="adj" fmla="val 49999"/>
            </a:avLst>
          </a:prstGeom>
          <a:solidFill>
            <a:srgbClr val="454B68"/>
          </a:solidFill>
          <a:ln/>
        </p:spPr>
      </p:sp>
      <p:sp>
        <p:nvSpPr>
          <p:cNvPr id="9" name="Text 7"/>
          <p:cNvSpPr/>
          <p:nvPr/>
        </p:nvSpPr>
        <p:spPr>
          <a:xfrm>
            <a:off x="863578" y="3000375"/>
            <a:ext cx="2946326" cy="22078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94640" indent="-294640">
              <a:lnSpc>
                <a:spcPct val="118000"/>
              </a:lnSpc>
              <a:buSzPct val="100000"/>
              <a:buChar char="•"/>
            </a:pPr>
            <a:r>
              <a:rPr lang="en-US" sz="1450" dirty="0">
                <a:solidFill>
                  <a:srgbClr val="C9CCD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Structured JSON input consumption.</a:t>
            </a:r>
            <a:endParaRPr lang="en-US" sz="1450" dirty="0"/>
          </a:p>
          <a:p>
            <a:pPr algn="l" marL="294640" indent="-294640">
              <a:lnSpc>
                <a:spcPct val="118000"/>
              </a:lnSpc>
              <a:buSzPct val="100000"/>
              <a:buChar char="•"/>
            </a:pPr>
            <a:r>
              <a:rPr lang="en-US" sz="1450" dirty="0">
                <a:solidFill>
                  <a:srgbClr val="C9CCD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Schema validation and boundary checks.</a:t>
            </a:r>
            <a:endParaRPr lang="en-US" sz="1450" dirty="0"/>
          </a:p>
          <a:p>
            <a:pPr algn="l" marL="294640" indent="-294640">
              <a:lnSpc>
                <a:spcPct val="118000"/>
              </a:lnSpc>
              <a:buSzPct val="100000"/>
              <a:buChar char="•"/>
            </a:pPr>
            <a:r>
              <a:rPr lang="en-US" sz="1450" dirty="0">
                <a:solidFill>
                  <a:srgbClr val="C9CCD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Automated Google Gemini prompt pipeline.</a:t>
            </a:r>
            <a:endParaRPr lang="en-US" sz="1450" dirty="0"/>
          </a:p>
          <a:p>
            <a:pPr algn="l" marL="294640" indent="-294640">
              <a:lnSpc>
                <a:spcPct val="118000"/>
              </a:lnSpc>
              <a:buSzPct val="100000"/>
              <a:buChar char="•"/>
            </a:pPr>
            <a:r>
              <a:rPr lang="en-US" sz="1450" dirty="0">
                <a:solidFill>
                  <a:srgbClr val="C9CCD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HTTP 200 OK response with clean JSON structure.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4368691" y="1794966"/>
            <a:ext cx="3454314" cy="4184352"/>
          </a:xfrm>
          <a:prstGeom prst="roundRect">
            <a:avLst>
              <a:gd name="adj" fmla="val 331"/>
            </a:avLst>
          </a:prstGeom>
          <a:solidFill>
            <a:srgbClr val="1B1D2A"/>
          </a:solidFill>
          <a:ln/>
        </p:spPr>
      </p:sp>
      <p:sp>
        <p:nvSpPr>
          <p:cNvPr id="11" name="Text 9"/>
          <p:cNvSpPr/>
          <p:nvPr/>
        </p:nvSpPr>
        <p:spPr>
          <a:xfrm>
            <a:off x="4622684" y="2048966"/>
            <a:ext cx="3200320" cy="1803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050" spc="63" kern="0" dirty="0">
                <a:solidFill>
                  <a:srgbClr val="A9AEC4"/>
                </a:solidFill>
                <a:latin typeface="Fragment Mono" pitchFamily="34" charset="0"/>
                <a:ea typeface="Fragment Mono" pitchFamily="34" charset="-122"/>
                <a:cs typeface="Fragment Mono" pitchFamily="34" charset="-120"/>
              </a:rPr>
              <a:t>RECOGNIZED BOUNDARIES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622684" y="2301974"/>
            <a:ext cx="2946326" cy="3529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100" dirty="0">
                <a:solidFill>
                  <a:srgbClr val="E8EAF2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Current Limitations</a:t>
            </a:r>
            <a:endParaRPr lang="en-US" sz="2100" dirty="0"/>
          </a:p>
        </p:txBody>
      </p:sp>
      <p:sp>
        <p:nvSpPr>
          <p:cNvPr id="13" name="Shape 11"/>
          <p:cNvSpPr/>
          <p:nvPr/>
        </p:nvSpPr>
        <p:spPr>
          <a:xfrm>
            <a:off x="4622684" y="2831207"/>
            <a:ext cx="2946227" cy="19050"/>
          </a:xfrm>
          <a:prstGeom prst="roundRect">
            <a:avLst>
              <a:gd name="adj" fmla="val 49999"/>
            </a:avLst>
          </a:prstGeom>
          <a:solidFill>
            <a:srgbClr val="454B68"/>
          </a:solidFill>
          <a:ln/>
        </p:spPr>
      </p:sp>
      <p:sp>
        <p:nvSpPr>
          <p:cNvPr id="14" name="Text 12"/>
          <p:cNvSpPr/>
          <p:nvPr/>
        </p:nvSpPr>
        <p:spPr>
          <a:xfrm>
            <a:off x="4622684" y="3000375"/>
            <a:ext cx="2946326" cy="2466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94640" indent="-294640">
              <a:lnSpc>
                <a:spcPct val="118000"/>
              </a:lnSpc>
              <a:buSzPct val="100000"/>
              <a:buChar char="•"/>
            </a:pPr>
            <a:r>
              <a:rPr lang="en-US" sz="1450" dirty="0">
                <a:solidFill>
                  <a:srgbClr val="C9CCD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Evidence limited to single baseline test (18°C, clear).</a:t>
            </a:r>
            <a:endParaRPr lang="en-US" sz="1450" dirty="0"/>
          </a:p>
          <a:p>
            <a:pPr algn="l" marL="294640" indent="-294640">
              <a:lnSpc>
                <a:spcPct val="118000"/>
              </a:lnSpc>
              <a:buSzPct val="100000"/>
              <a:buChar char="•"/>
            </a:pPr>
            <a:r>
              <a:rPr lang="en-US" sz="1450" dirty="0">
                <a:solidFill>
                  <a:srgbClr val="C9CCD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Lacks automated stress testing under severe weather extremes.</a:t>
            </a:r>
            <a:endParaRPr lang="en-US" sz="1450" dirty="0"/>
          </a:p>
          <a:p>
            <a:pPr algn="l" marL="294640" indent="-294640">
              <a:lnSpc>
                <a:spcPct val="118000"/>
              </a:lnSpc>
              <a:buSzPct val="100000"/>
              <a:buChar char="•"/>
            </a:pPr>
            <a:r>
              <a:rPr lang="en-US" sz="1450" dirty="0">
                <a:solidFill>
                  <a:srgbClr val="C9CCD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No high-concurrency rate-limit benchmarking.</a:t>
            </a:r>
            <a:endParaRPr lang="en-US" sz="1450" dirty="0"/>
          </a:p>
          <a:p>
            <a:pPr algn="l" marL="294640" indent="-294640">
              <a:lnSpc>
                <a:spcPct val="118000"/>
              </a:lnSpc>
              <a:buSzPct val="100000"/>
              <a:buChar char="•"/>
            </a:pPr>
            <a:r>
              <a:rPr lang="en-US" sz="1450" dirty="0">
                <a:solidFill>
                  <a:srgbClr val="C9CCD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Subject to upstream generative latency fluctuations.</a:t>
            </a:r>
            <a:endParaRPr lang="en-US" sz="1450" dirty="0"/>
          </a:p>
        </p:txBody>
      </p:sp>
      <p:sp>
        <p:nvSpPr>
          <p:cNvPr id="15" name="Shape 13"/>
          <p:cNvSpPr/>
          <p:nvPr/>
        </p:nvSpPr>
        <p:spPr>
          <a:xfrm>
            <a:off x="8127797" y="1794966"/>
            <a:ext cx="3454314" cy="4184352"/>
          </a:xfrm>
          <a:prstGeom prst="roundRect">
            <a:avLst>
              <a:gd name="adj" fmla="val 331"/>
            </a:avLst>
          </a:prstGeom>
          <a:solidFill>
            <a:srgbClr val="1B1D2A"/>
          </a:solidFill>
          <a:ln/>
        </p:spPr>
      </p:sp>
      <p:sp>
        <p:nvSpPr>
          <p:cNvPr id="16" name="Text 14"/>
          <p:cNvSpPr/>
          <p:nvPr/>
        </p:nvSpPr>
        <p:spPr>
          <a:xfrm>
            <a:off x="8381790" y="2048966"/>
            <a:ext cx="3200320" cy="1803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050" spc="63" kern="0" dirty="0">
                <a:solidFill>
                  <a:srgbClr val="A9AEC4"/>
                </a:solidFill>
                <a:latin typeface="Fragment Mono" pitchFamily="34" charset="0"/>
                <a:ea typeface="Fragment Mono" pitchFamily="34" charset="-122"/>
                <a:cs typeface="Fragment Mono" pitchFamily="34" charset="-120"/>
              </a:rPr>
              <a:t>IMMEDIATE MILESTONES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8381790" y="2301974"/>
            <a:ext cx="2946326" cy="3529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100" dirty="0">
                <a:solidFill>
                  <a:srgbClr val="E8EAF2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Next Quality Steps</a:t>
            </a:r>
            <a:endParaRPr lang="en-US" sz="2100" dirty="0"/>
          </a:p>
        </p:txBody>
      </p:sp>
      <p:sp>
        <p:nvSpPr>
          <p:cNvPr id="18" name="Shape 16"/>
          <p:cNvSpPr/>
          <p:nvPr/>
        </p:nvSpPr>
        <p:spPr>
          <a:xfrm>
            <a:off x="8381790" y="2831207"/>
            <a:ext cx="2946227" cy="19050"/>
          </a:xfrm>
          <a:prstGeom prst="roundRect">
            <a:avLst>
              <a:gd name="adj" fmla="val 49999"/>
            </a:avLst>
          </a:prstGeom>
          <a:solidFill>
            <a:srgbClr val="454B68"/>
          </a:solidFill>
          <a:ln/>
        </p:spPr>
      </p:sp>
      <p:sp>
        <p:nvSpPr>
          <p:cNvPr id="19" name="Text 17"/>
          <p:cNvSpPr/>
          <p:nvPr/>
        </p:nvSpPr>
        <p:spPr>
          <a:xfrm>
            <a:off x="8381790" y="3000375"/>
            <a:ext cx="2946326" cy="27249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94640" indent="-294640">
              <a:lnSpc>
                <a:spcPct val="118000"/>
              </a:lnSpc>
              <a:buSzPct val="100000"/>
              <a:buChar char="•"/>
            </a:pPr>
            <a:r>
              <a:rPr lang="en-US" sz="1450" dirty="0">
                <a:solidFill>
                  <a:srgbClr val="C9CCD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Expand unit and integration suite across edge temperatures.</a:t>
            </a:r>
            <a:endParaRPr lang="en-US" sz="1450" dirty="0"/>
          </a:p>
          <a:p>
            <a:pPr algn="l" marL="294640" indent="-294640">
              <a:lnSpc>
                <a:spcPct val="118000"/>
              </a:lnSpc>
              <a:buSzPct val="100000"/>
              <a:buChar char="•"/>
            </a:pPr>
            <a:r>
              <a:rPr lang="en-US" sz="1450" dirty="0">
                <a:solidFill>
                  <a:srgbClr val="C9CCD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Implement cached fallback recommendations for 503 events.</a:t>
            </a:r>
            <a:endParaRPr lang="en-US" sz="1450" dirty="0"/>
          </a:p>
          <a:p>
            <a:pPr algn="l" marL="294640" indent="-294640">
              <a:lnSpc>
                <a:spcPct val="118000"/>
              </a:lnSpc>
              <a:buSzPct val="100000"/>
              <a:buChar char="•"/>
            </a:pPr>
            <a:r>
              <a:rPr lang="en-US" sz="1450" dirty="0">
                <a:solidFill>
                  <a:srgbClr val="C9CCD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Benchmark upstream Gemini token response latency.</a:t>
            </a:r>
            <a:endParaRPr lang="en-US" sz="1450" dirty="0"/>
          </a:p>
          <a:p>
            <a:pPr algn="l" marL="294640" indent="-294640">
              <a:lnSpc>
                <a:spcPct val="118000"/>
              </a:lnSpc>
              <a:buSzPct val="100000"/>
              <a:buChar char="•"/>
            </a:pPr>
            <a:r>
              <a:rPr lang="en-US" sz="1450" dirty="0">
                <a:solidFill>
                  <a:srgbClr val="C9CCD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Deploy automated CI/CD Postman collection testing.</a:t>
            </a:r>
            <a:endParaRPr lang="en-US" sz="1450" dirty="0"/>
          </a:p>
        </p:txBody>
      </p:sp>
      <p:pic>
        <p:nvPicPr>
          <p:cNvPr id="2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585" y="6142038"/>
            <a:ext cx="1919041" cy="1079401"/>
          </a:xfrm>
          <a:prstGeom prst="rect">
            <a:avLst/>
          </a:prstGeom>
        </p:spPr>
      </p:pic>
      <p:sp>
        <p:nvSpPr>
          <p:cNvPr id="21" name="Text 18"/>
          <p:cNvSpPr/>
          <p:nvPr/>
        </p:nvSpPr>
        <p:spPr>
          <a:xfrm>
            <a:off x="11406597" y="6456561"/>
            <a:ext cx="785098" cy="19327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050" spc="42" kern="0" dirty="0">
                <a:solidFill>
                  <a:srgbClr val="C9CCDA"/>
                </a:solidFill>
                <a:latin typeface="Fragment Mono" pitchFamily="34" charset="0"/>
                <a:ea typeface="Fragment Mono" pitchFamily="34" charset="-122"/>
                <a:cs typeface="Fragment Mono" pitchFamily="34" charset="-120"/>
              </a:rPr>
              <a:t>10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2026-09-27T19:33:06Z</dcterms:created>
  <dcterms:modified xsi:type="dcterms:W3CDTF">2026-09-27T19:33:06Z</dcterms:modified>
</cp:coreProperties>
</file>